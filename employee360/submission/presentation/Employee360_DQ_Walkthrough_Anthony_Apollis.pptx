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940fcff9f4414c" /><Relationship Type="http://schemas.openxmlformats.org/officeDocument/2006/relationships/extended-properties" Target="/docProps/app.xml" Id="R4eb4b8ba440340b3" /><Relationship Type="http://schemas.openxmlformats.org/officeDocument/2006/relationships/officeDocument" Target="/ppt/presentation.xml" Id="Rea1f5c62faa24758" /></Relationships>
</file>

<file path=ppt/presentation.xml><?xml version="1.0" encoding="utf-8"?>
<p:presentation xmlns:p="http://schemas.openxmlformats.org/presentationml/2006/main">
  <p:sldMasterIdLst>
    <p:sldMasterId xmlns:r="http://schemas.openxmlformats.org/officeDocument/2006/relationships" id="2147483648" r:id="Rf710c6db451e454a"/>
  </p:sldMasterIdLst>
  <p:notesMasterIdLst>
    <p:notesMasterId xmlns:r="http://schemas.openxmlformats.org/officeDocument/2006/relationships" r:id="Rf1556fdea927497b"/>
  </p:notesMasterIdLst>
  <p:sldIdLst>
    <p:sldId xmlns:r="http://schemas.openxmlformats.org/officeDocument/2006/relationships" id="256" r:id="R0d0f7e0803154ca2"/>
    <p:sldId xmlns:r="http://schemas.openxmlformats.org/officeDocument/2006/relationships" id="257" r:id="Rb95278323856432c"/>
    <p:sldId xmlns:r="http://schemas.openxmlformats.org/officeDocument/2006/relationships" id="258" r:id="R4799a0cce7d7479f"/>
    <p:sldId xmlns:r="http://schemas.openxmlformats.org/officeDocument/2006/relationships" id="259" r:id="R6bb657546d2d471d"/>
    <p:sldId xmlns:r="http://schemas.openxmlformats.org/officeDocument/2006/relationships" id="260" r:id="R493e15f6abf94dce"/>
    <p:sldId xmlns:r="http://schemas.openxmlformats.org/officeDocument/2006/relationships" id="261" r:id="R572ee0b1766c4ca9"/>
    <p:sldId xmlns:r="http://schemas.openxmlformats.org/officeDocument/2006/relationships" id="262" r:id="R579c011eaebb47d5"/>
    <p:sldId xmlns:r="http://schemas.openxmlformats.org/officeDocument/2006/relationships" id="263" r:id="R0107947fe3ce49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7dda2503ac4c85" /><Relationship Type="http://schemas.openxmlformats.org/officeDocument/2006/relationships/slideMaster" Target="/ppt/slideMasters/slideMaster1.xml" Id="Rf710c6db451e454a" /><Relationship Type="http://schemas.openxmlformats.org/officeDocument/2006/relationships/notesMaster" Target="/ppt/notesMasters/notesMaster1.xml" Id="Rf1556fdea927497b" /><Relationship Type="http://schemas.openxmlformats.org/officeDocument/2006/relationships/presProps" Target="/ppt/presProps.xml" Id="R6a8758ed15d24d01" /><Relationship Type="http://schemas.openxmlformats.org/officeDocument/2006/relationships/tableStyles" Target="/ppt/tableStyles.xml" Id="R5f678df5327140a7" /><Relationship Type="http://schemas.openxmlformats.org/officeDocument/2006/relationships/slide" Target="/ppt/slides/slide1.xml" Id="R0d0f7e0803154ca2" /><Relationship Type="http://schemas.openxmlformats.org/officeDocument/2006/relationships/slide" Target="/ppt/slides/slide2.xml" Id="Rb95278323856432c" /><Relationship Type="http://schemas.openxmlformats.org/officeDocument/2006/relationships/slide" Target="/ppt/slides/slide3.xml" Id="R4799a0cce7d7479f" /><Relationship Type="http://schemas.openxmlformats.org/officeDocument/2006/relationships/slide" Target="/ppt/slides/slide4.xml" Id="R6bb657546d2d471d" /><Relationship Type="http://schemas.openxmlformats.org/officeDocument/2006/relationships/slide" Target="/ppt/slides/slide5.xml" Id="R493e15f6abf94dce" /><Relationship Type="http://schemas.openxmlformats.org/officeDocument/2006/relationships/slide" Target="/ppt/slides/slide6.xml" Id="R572ee0b1766c4ca9" /><Relationship Type="http://schemas.openxmlformats.org/officeDocument/2006/relationships/slide" Target="/ppt/slides/slide7.xml" Id="R579c011eaebb47d5" /><Relationship Type="http://schemas.openxmlformats.org/officeDocument/2006/relationships/slide" Target="/ppt/slides/slide8.xml" Id="R0107947fe3ce49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21ad3789ce4a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986c85d415436d" /><Relationship Type="http://schemas.openxmlformats.org/officeDocument/2006/relationships/notesMaster" Target="/ppt/notesMasters/notesMaster1.xml" Id="R74da1ff90d3948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64ee44683544ec" /><Relationship Type="http://schemas.openxmlformats.org/officeDocument/2006/relationships/notesMaster" Target="/ppt/notesMasters/notesMaster1.xml" Id="Re9923c1e188846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f0c4e0edec4428" /><Relationship Type="http://schemas.openxmlformats.org/officeDocument/2006/relationships/notesMaster" Target="/ppt/notesMasters/notesMaster1.xml" Id="Rf113803514074f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529c809b8b4750" /><Relationship Type="http://schemas.openxmlformats.org/officeDocument/2006/relationships/notesMaster" Target="/ppt/notesMasters/notesMaster1.xml" Id="R9cab833d24064c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7dd2ea23614734" /><Relationship Type="http://schemas.openxmlformats.org/officeDocument/2006/relationships/notesMaster" Target="/ppt/notesMasters/notesMaster1.xml" Id="R746eebe783e54f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ff31c0f41d4989" /><Relationship Type="http://schemas.openxmlformats.org/officeDocument/2006/relationships/notesMaster" Target="/ppt/notesMasters/notesMaster1.xml" Id="R6915f57d4b6c4a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9d3e2db7d34b64" /><Relationship Type="http://schemas.openxmlformats.org/officeDocument/2006/relationships/notesMaster" Target="/ppt/notesMasters/notesMaster1.xml" Id="Re5ac577c4a2543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515bed42c34b39" /><Relationship Type="http://schemas.openxmlformats.org/officeDocument/2006/relationships/notesMaster" Target="/ppt/notesMasters/notesMaster1.xml" Id="R18c1fd773a4149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stating the purpose of the assignment. I assessed the quality of the HR, payroll and Employee 360 extracts, built repeatable controls, reconciled the sources and created operational monitoring. The supplied data is intentionally unsuitable for release: the checks identify real defects and show exactly where they begin. This walkthrough takes about seven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question is whether the Employee 360 output is safe to publish. I evaluated all three supplied files, rather than only checking the target. Each source has 48 rows, but matching row counts do not prove trust. The supplied data creates 17 local rule findings across 12 employees. The release gate blocks publication because every defined control finds at least one issue. The important point is that a blocked release is a correct, useful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used SQL for transparent profiling and reconciliation queries. I used PySpark for a repeatable Databricks job that reads the files, applies all ten controls and writes issue and monitoring tables. The controls span uniqueness, completeness, integrity, consistency, validity, timeliness and reconciliation. Each result retains employee IDs and a severity, so data owners can investigate an actual record rather than work from a vague aggregate.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reconciliation result. E1027 is missing from Employee 360. E1099 is an unexpected downstream record and matches E1028 across all eight tested attributes, which supports the root-cause finding that it was copied. Six employees have field-level errors. For E1015, payroll provides conflicting values, so the pipeline deliberately reports Cannot verify instead of choosing an arbitrary value. E1042 is a future-dated HR change; it is visible for transparency but does not block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 sequence demonstrates incremental processing. Run one loads the supplied source files. Run two receives the same hashes and skips them, which prevents duplicate processing. Run three is deliberately simulated. It gives evidence that the pipeline detects changes, closes issues when later data no longer violates a rule, and flags new issues. Resolved never means the original challenge data changed. That distinction protects the integrity of the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monitoring dashboard has a release decision, rule outcomes, severity, actions and affected counts. Critical reconciliation defects block release. High severity controls alert data owners. Lower severity defects are monitored and trended. I also distinguish technical failure from data-quality failure. The earlier SQL subquery problem was an operational job error. The current blocked release is different: the job ran successfully and found data defects.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delivery design is deliberately small. PySpark handles file ingestion, incremental hashes, scalable checks and Delta outputs. dbt adds value for the SQL layer: it documents source tables, builds staging and reconciliation models, adds standard tests and exposes lineage for reviewers. Azure DevOps can run both the Python regression tests and dbt checks before deployment. The governance model links every issue to a run, source and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used AI to speed up drafting and to challenge the implementation, but I kept independent judgement. The key correction was rejecting a grouped first-value approach because it could hide the payroll conflict for E1015. The final pipeline classifies that record as Cannot verify. I would next work with HR and payroll owners to correct the data, rerun the controls and only then change the release gate from BLOCK to PASS.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1ae2a0298d4a5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1d3f4829a62498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0e2a29fc8f44f4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15751a51a754a9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458188036234ff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3ef555dfe544e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3F471D-7C78-4A53-8CBE-8B8FF88B6F8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BD70F91-CFFA-4AD6-B34A-937071CD7B3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DBC9120-E3D7-43FB-A2AC-3C35B398958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FE065D-3BFE-4160-9D3A-44ABC66DF6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B110EE4-1FB0-4CB5-A228-97AB28FCCD0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E0667C5-E794-4592-8730-8449110E75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B182D4A-B244-400A-B445-6F507557CB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7759233-9154-4ADF-B02F-02C11D0B867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98C89A-F7AC-4AD2-8F6A-E89F7656C2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B6A494-2909-4315-ABF5-38D539DE4E9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a92716e05043bb" /><Relationship Type="http://schemas.openxmlformats.org/officeDocument/2006/relationships/slideLayout" Target="/ppt/slideLayouts/slideLayout1.xml" Id="Rd0899afb85904f2e" /><Relationship Type="http://schemas.openxmlformats.org/officeDocument/2006/relationships/slideLayout" Target="/ppt/slideLayouts/slideLayout2.xml" Id="R648792a779ff4d30" /><Relationship Type="http://schemas.openxmlformats.org/officeDocument/2006/relationships/slideLayout" Target="/ppt/slideLayouts/slideLayout3.xml" Id="Rad416ba39c9c4980" /><Relationship Type="http://schemas.openxmlformats.org/officeDocument/2006/relationships/slideLayout" Target="/ppt/slideLayouts/slideLayout4.xml" Id="Rb192b45aa1ae4883" /><Relationship Type="http://schemas.openxmlformats.org/officeDocument/2006/relationships/slideLayout" Target="/ppt/slideLayouts/slideLayout5.xml" Id="R60e3a68310324f2e" /><Relationship Type="http://schemas.openxmlformats.org/officeDocument/2006/relationships/slideLayout" Target="/ppt/slideLayouts/slideLayout6.xml" Id="R28491cf1409b4f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899afb85904f2e"/>
    <p:sldLayoutId xmlns:r="http://schemas.openxmlformats.org/officeDocument/2006/relationships" id="2147483650" r:id="R648792a779ff4d30"/>
    <p:sldLayoutId xmlns:r="http://schemas.openxmlformats.org/officeDocument/2006/relationships" id="2147483651" r:id="Rad416ba39c9c4980"/>
    <p:sldLayoutId xmlns:r="http://schemas.openxmlformats.org/officeDocument/2006/relationships" id="2147483652" r:id="Rb192b45aa1ae4883"/>
    <p:sldLayoutId xmlns:r="http://schemas.openxmlformats.org/officeDocument/2006/relationships" id="2147483653" r:id="R60e3a68310324f2e"/>
    <p:sldLayoutId xmlns:r="http://schemas.openxmlformats.org/officeDocument/2006/relationships" id="2147483654" r:id="R28491cf1409b4f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d1d28eb462e412d" /><Relationship Type="http://schemas.openxmlformats.org/officeDocument/2006/relationships/image" Target="/ppt/media/image.png" Id="R934c1d74a7884273" /><Relationship Type="http://schemas.openxmlformats.org/officeDocument/2006/relationships/notesSlide" Target="/ppt/notesSlides/notesSlide1.xml" Id="Ra5574f4ef93f49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e147998da3d4a7f" /><Relationship Type="http://schemas.openxmlformats.org/officeDocument/2006/relationships/notesSlide" Target="/ppt/notesSlides/notesSlide2.xml" Id="R1827bcc3cd4741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73b4a00b9e34e31" /><Relationship Type="http://schemas.openxmlformats.org/officeDocument/2006/relationships/image" Target="/ppt/media/image2.png" Id="Re09bf322190448bb" /><Relationship Type="http://schemas.openxmlformats.org/officeDocument/2006/relationships/notesSlide" Target="/ppt/notesSlides/notesSlide3.xml" Id="Rdeabe84b51594c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f838d4a30d649b8" /><Relationship Type="http://schemas.openxmlformats.org/officeDocument/2006/relationships/image" Target="/ppt/media/image3.png" Id="R123a6c48e3a44b14" /><Relationship Type="http://schemas.openxmlformats.org/officeDocument/2006/relationships/notesSlide" Target="/ppt/notesSlides/notesSlide4.xml" Id="R85e4abcc67164c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500f3bb325d4eec" /><Relationship Type="http://schemas.openxmlformats.org/officeDocument/2006/relationships/image" Target="/ppt/media/image4.png" Id="R29590428e0104319" /><Relationship Type="http://schemas.openxmlformats.org/officeDocument/2006/relationships/notesSlide" Target="/ppt/notesSlides/notesSlide5.xml" Id="R2952148cefb940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a515f0f856d4ce9" /><Relationship Type="http://schemas.openxmlformats.org/officeDocument/2006/relationships/image" Target="/ppt/media/image5.png" Id="Rd8658fd1e9a34fde" /><Relationship Type="http://schemas.openxmlformats.org/officeDocument/2006/relationships/notesSlide" Target="/ppt/notesSlides/notesSlide6.xml" Id="Rbb9f86d335434d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18a882a2ad44e3f" /><Relationship Type="http://schemas.openxmlformats.org/officeDocument/2006/relationships/image" Target="/ppt/media/image6.png" Id="R6b08ad4aaf084888" /><Relationship Type="http://schemas.openxmlformats.org/officeDocument/2006/relationships/notesSlide" Target="/ppt/notesSlides/notesSlide7.xml" Id="R7f7b22239d4942a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8c702a45e924c96" /><Relationship Type="http://schemas.openxmlformats.org/officeDocument/2006/relationships/notesSlide" Target="/ppt/notesSlides/notesSlide8.xml" Id="R3249ecf5f9154254"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A87F31-E4FC-480F-B37D-CE0E1D3006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A43"/>
          </a:solidFill>
          <a:ln xmlns:a="http://schemas.openxmlformats.org/drawingml/2006/main" w="9525">
            <a:solidFill>
              <a:srgbClr val="102A43"/>
            </a:solidFill>
            <a:prstDash val="solid"/>
          </a:ln>
        </p:spPr>
      </p:sp>
      <p:sp>
        <p:nvSpPr>
          <p:cNvPr id="2" name="">
            <a:extLst xmlns:a="http://schemas.openxmlformats.org/drawingml/2006/main">
              <a:ext uri="{FF2B5EF4-FFF2-40B4-BE49-F238E27FC236}">
                <a16:creationId xmlns:a16="http://schemas.microsoft.com/office/drawing/2014/main" id="{F9F91B24-0198-43AA-B80B-1AF95E206D12}"/>
              </a:ext>
            </a:extLst>
          </p:cNvPr>
          <p:cNvSpPr>
            <a:spLocks xmlns:a="http://schemas.openxmlformats.org/drawingml/2006/main" noGrp="1"/>
          </p:cNvSpPr>
          <p:nvPr/>
        </p:nvSpPr>
        <p:spPr>
          <a:xfrm xmlns:a="http://schemas.openxmlformats.org/drawingml/2006/main">
            <a:off x="609600" y="838200"/>
            <a:ext cx="85725" cy="4648200"/>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3" name="">
            <a:extLst xmlns:a="http://schemas.openxmlformats.org/drawingml/2006/main">
              <a:ext uri="{FF2B5EF4-FFF2-40B4-BE49-F238E27FC236}">
                <a16:creationId xmlns:a16="http://schemas.microsoft.com/office/drawing/2014/main" id="{FC361251-DABC-4BDB-8D90-DA123C7084B5}"/>
              </a:ext>
            </a:extLst>
          </p:cNvPr>
          <p:cNvSpPr>
            <a:spLocks xmlns:a="http://schemas.openxmlformats.org/drawingml/2006/main" noGrp="1"/>
          </p:cNvSpPr>
          <p:nvPr/>
        </p:nvSpPr>
        <p:spPr>
          <a:xfrm xmlns:a="http://schemas.openxmlformats.org/drawingml/2006/main">
            <a:off x="971550" y="1238250"/>
            <a:ext cx="590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450" b="1">
                <a:solidFill>
                  <a:srgbClr val="FFFFFF"/>
                </a:solidFill>
              </a:defRPr>
            </a:defPPr>
          </a:lstStyle>
          <a:p xmlns:a="http://schemas.openxmlformats.org/drawingml/2006/main">
            <a:pPr>
              <a:defRPr sz="3450" b="1">
                <a:solidFill>
                  <a:srgbClr val="FFFFFF"/>
                </a:solidFill>
              </a:defRPr>
            </a:pPr>
            <a:r>
              <a:rPr sz="3450" b="1">
                <a:solidFill>
                  <a:srgbClr val="FFFFFF"/>
                </a:solidFill>
              </a:rPr>
              <a:t>Employee 360</a:t>
            </a:r>
          </a:p>
          <a:p xmlns:a="http://schemas.openxmlformats.org/drawingml/2006/main">
            <a:pPr>
              <a:defRPr sz="3450" b="1">
                <a:solidFill>
                  <a:srgbClr val="FFFFFF"/>
                </a:solidFill>
              </a:defRPr>
            </a:pPr>
            <a:r>
              <a:rPr sz="3450" b="1">
                <a:solidFill>
                  <a:srgbClr val="FFFFFF"/>
                </a:solidFill>
              </a:rPr>
              <a:t>Data Quality</a:t>
            </a:r>
          </a:p>
        </p:txBody>
      </p:sp>
      <p:sp>
        <p:nvSpPr>
          <p:cNvPr id="4" name="">
            <a:extLst xmlns:a="http://schemas.openxmlformats.org/drawingml/2006/main">
              <a:ext uri="{FF2B5EF4-FFF2-40B4-BE49-F238E27FC236}">
                <a16:creationId xmlns:a16="http://schemas.microsoft.com/office/drawing/2014/main" id="{0EB8804E-8528-4B94-B913-A56C760CA67D}"/>
              </a:ext>
            </a:extLst>
          </p:cNvPr>
          <p:cNvSpPr>
            <a:spLocks xmlns:a="http://schemas.openxmlformats.org/drawingml/2006/main" noGrp="1"/>
          </p:cNvSpPr>
          <p:nvPr/>
        </p:nvSpPr>
        <p:spPr>
          <a:xfrm xmlns:a="http://schemas.openxmlformats.org/drawingml/2006/main">
            <a:off x="990600" y="2886075"/>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BFD8D2"/>
                </a:solidFill>
              </a:defRPr>
            </a:defPPr>
          </a:lstStyle>
          <a:p xmlns:a="http://schemas.openxmlformats.org/drawingml/2006/main">
            <a:pPr>
              <a:defRPr sz="1650" b="0">
                <a:solidFill>
                  <a:srgbClr val="BFD8D2"/>
                </a:solidFill>
              </a:defRPr>
            </a:pPr>
            <a:r>
              <a:rPr sz="1650" b="0">
                <a:solidFill>
                  <a:srgbClr val="BFD8D2"/>
                </a:solidFill>
              </a:rPr>
              <a:t>Technical Challenge Walkthrough</a:t>
            </a:r>
          </a:p>
        </p:txBody>
      </p:sp>
      <p:sp>
        <p:nvSpPr>
          <p:cNvPr id="5" name="">
            <a:extLst xmlns:a="http://schemas.openxmlformats.org/drawingml/2006/main">
              <a:ext uri="{FF2B5EF4-FFF2-40B4-BE49-F238E27FC236}">
                <a16:creationId xmlns:a16="http://schemas.microsoft.com/office/drawing/2014/main" id="{AFAFFEEF-31A2-49C1-AF82-EFFEB487A036}"/>
              </a:ext>
            </a:extLst>
          </p:cNvPr>
          <p:cNvSpPr>
            <a:spLocks xmlns:a="http://schemas.openxmlformats.org/drawingml/2006/main" noGrp="1"/>
          </p:cNvSpPr>
          <p:nvPr/>
        </p:nvSpPr>
        <p:spPr>
          <a:xfrm xmlns:a="http://schemas.openxmlformats.org/drawingml/2006/main">
            <a:off x="990600" y="535305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Anthony Grant Apollis</a:t>
            </a:r>
          </a:p>
        </p:txBody>
      </p:sp>
      <p:sp>
        <p:nvSpPr>
          <p:cNvPr id="6" name="">
            <a:extLst xmlns:a="http://schemas.openxmlformats.org/drawingml/2006/main">
              <a:ext uri="{FF2B5EF4-FFF2-40B4-BE49-F238E27FC236}">
                <a16:creationId xmlns:a16="http://schemas.microsoft.com/office/drawing/2014/main" id="{A510DF16-EF1A-4F2C-99EC-A153CB2329E3}"/>
              </a:ext>
            </a:extLst>
          </p:cNvPr>
          <p:cNvSpPr>
            <a:spLocks xmlns:a="http://schemas.openxmlformats.org/drawingml/2006/main" noGrp="1"/>
          </p:cNvSpPr>
          <p:nvPr/>
        </p:nvSpPr>
        <p:spPr>
          <a:xfrm xmlns:a="http://schemas.openxmlformats.org/drawingml/2006/main">
            <a:off x="990600" y="56959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0">
                <a:solidFill>
                  <a:srgbClr val="BFD8D2"/>
                </a:solidFill>
              </a:defRPr>
            </a:defPPr>
          </a:lstStyle>
          <a:p xmlns:a="http://schemas.openxmlformats.org/drawingml/2006/main">
            <a:pPr>
              <a:defRPr sz="1050" b="0">
                <a:solidFill>
                  <a:srgbClr val="BFD8D2"/>
                </a:solidFill>
              </a:defRPr>
            </a:pPr>
            <a:r>
              <a:rPr sz="1050" b="0">
                <a:solidFill>
                  <a:srgbClr val="BFD8D2"/>
                </a:solidFill>
              </a:rPr>
              <a:t>8 slides | 5 to 10 minute recording</a:t>
            </a:r>
          </a:p>
        </p:txBody>
      </p:sp>
      <p:pic>
        <p:nvPicPr>
          <p:cNvPr id="7" name="">
            <a:extLst xmlns:a="http://schemas.openxmlformats.org/drawingml/2006/main">
              <a:ext uri="{FF2B5EF4-FFF2-40B4-BE49-F238E27FC236}">
                <a16:creationId xmlns:a16="http://schemas.microsoft.com/office/drawing/2014/main" id="{70824996-EA64-417F-B38C-F52BDD64C9A7}"/>
              </a:ext>
            </a:extLst>
          </p:cNvPr>
          <p:cNvPicPr>
            <a:picLocks xmlns:a="http://schemas.openxmlformats.org/drawingml/2006/main" noChangeAspect="1"/>
          </p:cNvPicPr>
          <p:nvPr/>
        </p:nvPicPr>
        <p:blipFill>
          <a:blip xmlns:r="http://schemas.openxmlformats.org/officeDocument/2006/relationships" xmlns:a="http://schemas.openxmlformats.org/drawingml/2006/main" r:embed="R934c1d74a7884273"/>
          <a:stretch xmlns:a="http://schemas.openxmlformats.org/drawingml/2006/main"/>
        </p:blipFill>
        <p:spPr>
          <a:xfrm xmlns:a="http://schemas.openxmlformats.org/drawingml/2006/main">
            <a:off x="7086600" y="2084807"/>
            <a:ext cx="4429125" cy="2097836"/>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D187EAC-6974-4D54-9D31-5F8ABA2E352A}"/>
              </a:ext>
            </a:extLst>
          </p:cNvPr>
          <p:cNvSpPr>
            <a:spLocks xmlns:a="http://schemas.openxmlformats.org/drawingml/2006/main" noGrp="1"/>
          </p:cNvSpPr>
          <p:nvPr/>
        </p:nvSpPr>
        <p:spPr>
          <a:xfrm xmlns:a="http://schemas.openxmlformats.org/drawingml/2006/main">
            <a:off x="7086600" y="5048250"/>
            <a:ext cx="438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FFFFFF"/>
                </a:solidFill>
              </a:defRPr>
            </a:defPPr>
          </a:lstStyle>
          <a:p xmlns:a="http://schemas.openxmlformats.org/drawingml/2006/main">
            <a:pPr>
              <a:defRPr sz="1350" b="1">
                <a:solidFill>
                  <a:srgbClr val="FFFFFF"/>
                </a:solidFill>
              </a:defRPr>
            </a:pPr>
            <a:r>
              <a:rPr sz="1350" b="1">
                <a:solidFill>
                  <a:srgbClr val="FFFFFF"/>
                </a:solidFill>
              </a:rPr>
              <a:t>The supplied data is blocked for release because critical reconciliation controls fail.</a:t>
            </a:r>
          </a:p>
        </p:txBody>
      </p:sp>
    </p:spTree>
    <p:extLst>
      <p:ext uri="{BB962C8B-B14F-4D97-AF65-F5344CB8AC3E}">
        <p14:creationId xmlns:p14="http://schemas.microsoft.com/office/powerpoint/2010/main" val="9286455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3F88F0D-EBA8-4F08-B923-46ABB3E7B913}"/>
              </a:ext>
            </a:extLst>
          </p:cNvPr>
          <p:cNvSpPr>
            <a:spLocks xmlns:a="http://schemas.openxmlformats.org/drawingml/2006/main" noGrp="1"/>
          </p:cNvSpPr>
          <p:nvPr/>
        </p:nvSpPr>
        <p:spPr>
          <a:xfrm xmlns:a="http://schemas.openxmlformats.org/drawingml/2006/main">
            <a:off x="609600" y="45720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102A43"/>
                </a:solidFill>
              </a:defRPr>
            </a:defPPr>
          </a:lstStyle>
          <a:p xmlns:a="http://schemas.openxmlformats.org/drawingml/2006/main">
            <a:pPr>
              <a:defRPr sz="2400" b="1">
                <a:solidFill>
                  <a:srgbClr val="102A43"/>
                </a:solidFill>
              </a:defRPr>
            </a:pPr>
            <a:r>
              <a:rPr sz="2400" b="1">
                <a:solidFill>
                  <a:srgbClr val="102A43"/>
                </a:solidFill>
              </a:rPr>
              <a:t>Business question and scope</a:t>
            </a:r>
          </a:p>
        </p:txBody>
      </p:sp>
      <p:sp>
        <p:nvSpPr>
          <p:cNvPr id="2" name="">
            <a:extLst xmlns:a="http://schemas.openxmlformats.org/drawingml/2006/main">
              <a:ext uri="{FF2B5EF4-FFF2-40B4-BE49-F238E27FC236}">
                <a16:creationId xmlns:a16="http://schemas.microsoft.com/office/drawing/2014/main" id="{9A75E8EA-D58E-4416-B68B-16829839592E}"/>
              </a:ext>
            </a:extLst>
          </p:cNvPr>
          <p:cNvSpPr>
            <a:spLocks xmlns:a="http://schemas.openxmlformats.org/drawingml/2006/main" noGrp="1"/>
          </p:cNvSpPr>
          <p:nvPr/>
        </p:nvSpPr>
        <p:spPr>
          <a:xfrm xmlns:a="http://schemas.openxmlformats.org/drawingml/2006/main">
            <a:off x="609600" y="942975"/>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2606D"/>
                </a:solidFill>
              </a:defRPr>
            </a:defPPr>
          </a:lstStyle>
          <a:p xmlns:a="http://schemas.openxmlformats.org/drawingml/2006/main">
            <a:pPr>
              <a:defRPr sz="1125" b="0">
                <a:solidFill>
                  <a:srgbClr val="52606D"/>
                </a:solidFill>
              </a:defRPr>
            </a:pPr>
            <a:r>
              <a:rPr sz="1125" b="0">
                <a:solidFill>
                  <a:srgbClr val="52606D"/>
                </a:solidFill>
              </a:rPr>
              <a:t>Can Employee 360 be trusted for operational and management reporting?</a:t>
            </a:r>
          </a:p>
        </p:txBody>
      </p:sp>
      <p:sp>
        <p:nvSpPr>
          <p:cNvPr id="3" name="">
            <a:extLst xmlns:a="http://schemas.openxmlformats.org/drawingml/2006/main">
              <a:ext uri="{FF2B5EF4-FFF2-40B4-BE49-F238E27FC236}">
                <a16:creationId xmlns:a16="http://schemas.microsoft.com/office/drawing/2014/main" id="{4229CE1B-FE8E-41E5-9EBB-ADD6D2AFE99C}"/>
              </a:ext>
            </a:extLst>
          </p:cNvPr>
          <p:cNvSpPr>
            <a:spLocks xmlns:a="http://schemas.openxmlformats.org/drawingml/2006/main" noGrp="1"/>
          </p:cNvSpPr>
          <p:nvPr/>
        </p:nvSpPr>
        <p:spPr>
          <a:xfrm xmlns:a="http://schemas.openxmlformats.org/drawingml/2006/main">
            <a:off x="609600" y="1304925"/>
            <a:ext cx="10953750" cy="38100"/>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4" name="">
            <a:extLst xmlns:a="http://schemas.openxmlformats.org/drawingml/2006/main">
              <a:ext uri="{FF2B5EF4-FFF2-40B4-BE49-F238E27FC236}">
                <a16:creationId xmlns:a16="http://schemas.microsoft.com/office/drawing/2014/main" id="{CBBBCC89-73F5-41BF-8F10-D8D77D977A5C}"/>
              </a:ext>
            </a:extLst>
          </p:cNvPr>
          <p:cNvSpPr>
            <a:spLocks xmlns:a="http://schemas.openxmlformats.org/drawingml/2006/main" noGrp="1"/>
          </p:cNvSpPr>
          <p:nvPr/>
        </p:nvSpPr>
        <p:spPr>
          <a:xfrm xmlns:a="http://schemas.openxmlformats.org/drawingml/2006/main">
            <a:off x="609600" y="64960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0">
                <a:solidFill>
                  <a:srgbClr val="52606D"/>
                </a:solidFill>
              </a:defRPr>
            </a:defPPr>
          </a:lstStyle>
          <a:p xmlns:a="http://schemas.openxmlformats.org/drawingml/2006/main">
            <a:pPr>
              <a:defRPr sz="750" b="0">
                <a:solidFill>
                  <a:srgbClr val="52606D"/>
                </a:solidFill>
              </a:defRPr>
            </a:pPr>
            <a:r>
              <a:rPr sz="750" b="0">
                <a:solidFill>
                  <a:srgbClr val="52606D"/>
                </a:solidFill>
              </a:rPr>
              <a:t>Employee 360 Data Quality | Anthony Grant Apollis</a:t>
            </a:r>
          </a:p>
        </p:txBody>
      </p:sp>
      <p:sp>
        <p:nvSpPr>
          <p:cNvPr id="5" name="">
            <a:extLst xmlns:a="http://schemas.openxmlformats.org/drawingml/2006/main">
              <a:ext uri="{FF2B5EF4-FFF2-40B4-BE49-F238E27FC236}">
                <a16:creationId xmlns:a16="http://schemas.microsoft.com/office/drawing/2014/main" id="{C5B7A1E5-34F8-4581-AFF5-F2BF6276F350}"/>
              </a:ext>
            </a:extLst>
          </p:cNvPr>
          <p:cNvSpPr>
            <a:spLocks xmlns:a="http://schemas.openxmlformats.org/drawingml/2006/main" noGrp="1"/>
          </p:cNvSpPr>
          <p:nvPr/>
        </p:nvSpPr>
        <p:spPr>
          <a:xfrm xmlns:a="http://schemas.openxmlformats.org/drawingml/2006/main">
            <a:off x="10858500" y="6496050"/>
            <a:ext cx="723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0">
                <a:solidFill>
                  <a:srgbClr val="52606D"/>
                </a:solidFill>
              </a:defRPr>
            </a:defPPr>
          </a:lstStyle>
          <a:p xmlns:a="http://schemas.openxmlformats.org/drawingml/2006/main">
            <a:pPr>
              <a:defRPr sz="750" b="0">
                <a:solidFill>
                  <a:srgbClr val="52606D"/>
                </a:solidFill>
              </a:defRPr>
            </a:pPr>
            <a:r>
              <a:rPr sz="750" b="0">
                <a:solidFill>
                  <a:srgbClr val="52606D"/>
                </a:solidFill>
              </a:rPr>
              <a:t>2 / 8</a:t>
            </a:r>
          </a:p>
        </p:txBody>
      </p:sp>
      <p:sp>
        <p:nvSpPr>
          <p:cNvPr id="6" name="">
            <a:extLst xmlns:a="http://schemas.openxmlformats.org/drawingml/2006/main">
              <a:ext uri="{FF2B5EF4-FFF2-40B4-BE49-F238E27FC236}">
                <a16:creationId xmlns:a16="http://schemas.microsoft.com/office/drawing/2014/main" id="{96E044A0-B142-48B8-9C3A-C6E1F7E720FB}"/>
              </a:ext>
            </a:extLst>
          </p:cNvPr>
          <p:cNvSpPr>
            <a:spLocks xmlns:a="http://schemas.openxmlformats.org/drawingml/2006/main" noGrp="1"/>
          </p:cNvSpPr>
          <p:nvPr/>
        </p:nvSpPr>
        <p:spPr>
          <a:xfrm xmlns:a="http://schemas.openxmlformats.org/drawingml/2006/main">
            <a:off x="609600" y="18097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52606D"/>
                </a:solidFill>
              </a:defRPr>
            </a:defPPr>
          </a:lstStyle>
          <a:p xmlns:a="http://schemas.openxmlformats.org/drawingml/2006/main">
            <a:pPr>
              <a:defRPr sz="1350" b="1">
                <a:solidFill>
                  <a:srgbClr val="52606D"/>
                </a:solidFill>
              </a:defRPr>
            </a:pPr>
            <a:r>
              <a:rPr sz="1350" b="1">
                <a:solidFill>
                  <a:srgbClr val="52606D"/>
                </a:solidFill>
              </a:rPr>
              <a:t>Decision</a:t>
            </a:r>
          </a:p>
        </p:txBody>
      </p:sp>
      <p:sp>
        <p:nvSpPr>
          <p:cNvPr id="7" name="">
            <a:extLst xmlns:a="http://schemas.openxmlformats.org/drawingml/2006/main">
              <a:ext uri="{FF2B5EF4-FFF2-40B4-BE49-F238E27FC236}">
                <a16:creationId xmlns:a16="http://schemas.microsoft.com/office/drawing/2014/main" id="{026CABFB-0E37-41D1-9EB1-2FAE62664692}"/>
              </a:ext>
            </a:extLst>
          </p:cNvPr>
          <p:cNvSpPr>
            <a:spLocks xmlns:a="http://schemas.openxmlformats.org/drawingml/2006/main" noGrp="1"/>
          </p:cNvSpPr>
          <p:nvPr/>
        </p:nvSpPr>
        <p:spPr>
          <a:xfrm xmlns:a="http://schemas.openxmlformats.org/drawingml/2006/main">
            <a:off x="609600" y="21526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4350" b="1">
                <a:solidFill>
                  <a:srgbClr val="C53030"/>
                </a:solidFill>
              </a:defRPr>
            </a:defPPr>
          </a:lstStyle>
          <a:p xmlns:a="http://schemas.openxmlformats.org/drawingml/2006/main">
            <a:pPr>
              <a:defRPr sz="4350" b="1">
                <a:solidFill>
                  <a:srgbClr val="C53030"/>
                </a:solidFill>
              </a:defRPr>
            </a:pPr>
            <a:r>
              <a:rPr sz="4350" b="1">
                <a:solidFill>
                  <a:srgbClr val="C53030"/>
                </a:solidFill>
              </a:rPr>
              <a:t>BLOCK</a:t>
            </a:r>
          </a:p>
        </p:txBody>
      </p:sp>
      <p:sp>
        <p:nvSpPr>
          <p:cNvPr id="8" name="">
            <a:extLst xmlns:a="http://schemas.openxmlformats.org/drawingml/2006/main">
              <a:ext uri="{FF2B5EF4-FFF2-40B4-BE49-F238E27FC236}">
                <a16:creationId xmlns:a16="http://schemas.microsoft.com/office/drawing/2014/main" id="{D1CC1461-ECF6-457F-9FAB-6CE38709A873}"/>
              </a:ext>
            </a:extLst>
          </p:cNvPr>
          <p:cNvSpPr>
            <a:spLocks xmlns:a="http://schemas.openxmlformats.org/drawingml/2006/main" noGrp="1"/>
          </p:cNvSpPr>
          <p:nvPr/>
        </p:nvSpPr>
        <p:spPr>
          <a:xfrm xmlns:a="http://schemas.openxmlformats.org/drawingml/2006/main">
            <a:off x="609600" y="3028950"/>
            <a:ext cx="5048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243B53"/>
                </a:solidFill>
              </a:defRPr>
            </a:defPPr>
          </a:lstStyle>
          <a:p xmlns:a="http://schemas.openxmlformats.org/drawingml/2006/main">
            <a:pPr>
              <a:defRPr sz="1500" b="0">
                <a:solidFill>
                  <a:srgbClr val="243B53"/>
                </a:solidFill>
              </a:defRPr>
            </a:pPr>
            <a:r>
              <a:rPr sz="1500" b="0">
                <a:solidFill>
                  <a:srgbClr val="243B53"/>
                </a:solidFill>
              </a:rPr>
              <a:t>Reason: source and reconciliation defects affect employee status, payroll values and completeness.</a:t>
            </a:r>
          </a:p>
        </p:txBody>
      </p:sp>
      <p:sp>
        <p:nvSpPr>
          <p:cNvPr id="9" name="">
            <a:extLst xmlns:a="http://schemas.openxmlformats.org/drawingml/2006/main">
              <a:ext uri="{FF2B5EF4-FFF2-40B4-BE49-F238E27FC236}">
                <a16:creationId xmlns:a16="http://schemas.microsoft.com/office/drawing/2014/main" id="{04D4C2E4-D16D-42B3-8FBA-8D5CD9C195E8}"/>
              </a:ext>
            </a:extLst>
          </p:cNvPr>
          <p:cNvSpPr>
            <a:spLocks xmlns:a="http://schemas.openxmlformats.org/drawingml/2006/main" noGrp="1"/>
          </p:cNvSpPr>
          <p:nvPr/>
        </p:nvSpPr>
        <p:spPr>
          <a:xfrm xmlns:a="http://schemas.openxmlformats.org/drawingml/2006/main">
            <a:off x="6572250" y="180975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52606D"/>
                </a:solidFill>
              </a:defRPr>
            </a:defPPr>
          </a:lstStyle>
          <a:p xmlns:a="http://schemas.openxmlformats.org/drawingml/2006/main">
            <a:pPr>
              <a:defRPr sz="1350" b="1">
                <a:solidFill>
                  <a:srgbClr val="52606D"/>
                </a:solidFill>
              </a:defRPr>
            </a:pPr>
            <a:r>
              <a:rPr sz="1350" b="1">
                <a:solidFill>
                  <a:srgbClr val="52606D"/>
                </a:solidFill>
              </a:rPr>
              <a:t>Assessment coverage</a:t>
            </a:r>
          </a:p>
        </p:txBody>
      </p:sp>
      <p:sp>
        <p:nvSpPr>
          <p:cNvPr id="10" name="">
            <a:extLst xmlns:a="http://schemas.openxmlformats.org/drawingml/2006/main">
              <a:ext uri="{FF2B5EF4-FFF2-40B4-BE49-F238E27FC236}">
                <a16:creationId xmlns:a16="http://schemas.microsoft.com/office/drawing/2014/main" id="{4CD6D234-1FF4-42BF-A62C-1D17089036DA}"/>
              </a:ext>
            </a:extLst>
          </p:cNvPr>
          <p:cNvSpPr>
            <a:spLocks xmlns:a="http://schemas.openxmlformats.org/drawingml/2006/main" noGrp="1"/>
          </p:cNvSpPr>
          <p:nvPr/>
        </p:nvSpPr>
        <p:spPr>
          <a:xfrm xmlns:a="http://schemas.openxmlformats.org/drawingml/2006/main">
            <a:off x="6572250" y="2286000"/>
            <a:ext cx="85725" cy="85725"/>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11" name="">
            <a:extLst xmlns:a="http://schemas.openxmlformats.org/drawingml/2006/main">
              <a:ext uri="{FF2B5EF4-FFF2-40B4-BE49-F238E27FC236}">
                <a16:creationId xmlns:a16="http://schemas.microsoft.com/office/drawing/2014/main" id="{6A5DA127-7B07-4E80-882D-E3C5DE4379A0}"/>
              </a:ext>
            </a:extLst>
          </p:cNvPr>
          <p:cNvSpPr>
            <a:spLocks xmlns:a="http://schemas.openxmlformats.org/drawingml/2006/main" noGrp="1"/>
          </p:cNvSpPr>
          <p:nvPr/>
        </p:nvSpPr>
        <p:spPr>
          <a:xfrm xmlns:a="http://schemas.openxmlformats.org/drawingml/2006/main">
            <a:off x="6781800" y="2190750"/>
            <a:ext cx="4552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243B53"/>
                </a:solidFill>
              </a:defRPr>
            </a:defPPr>
          </a:lstStyle>
          <a:p xmlns:a="http://schemas.openxmlformats.org/drawingml/2006/main">
            <a:pPr>
              <a:defRPr sz="1425" b="0">
                <a:solidFill>
                  <a:srgbClr val="243B53"/>
                </a:solidFill>
              </a:defRPr>
            </a:pPr>
            <a:r>
              <a:rPr sz="1425" b="0">
                <a:solidFill>
                  <a:srgbClr val="243B53"/>
                </a:solidFill>
              </a:rPr>
              <a:t>HR, payroll and Employee 360 source files</a:t>
            </a:r>
          </a:p>
        </p:txBody>
      </p:sp>
      <p:sp>
        <p:nvSpPr>
          <p:cNvPr id="12" name="">
            <a:extLst xmlns:a="http://schemas.openxmlformats.org/drawingml/2006/main">
              <a:ext uri="{FF2B5EF4-FFF2-40B4-BE49-F238E27FC236}">
                <a16:creationId xmlns:a16="http://schemas.microsoft.com/office/drawing/2014/main" id="{5D9CAF58-8477-41B8-A824-A7F69DD8DAA7}"/>
              </a:ext>
            </a:extLst>
          </p:cNvPr>
          <p:cNvSpPr>
            <a:spLocks xmlns:a="http://schemas.openxmlformats.org/drawingml/2006/main" noGrp="1"/>
          </p:cNvSpPr>
          <p:nvPr/>
        </p:nvSpPr>
        <p:spPr>
          <a:xfrm xmlns:a="http://schemas.openxmlformats.org/drawingml/2006/main">
            <a:off x="6572250" y="2971800"/>
            <a:ext cx="85725" cy="85725"/>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13" name="">
            <a:extLst xmlns:a="http://schemas.openxmlformats.org/drawingml/2006/main">
              <a:ext uri="{FF2B5EF4-FFF2-40B4-BE49-F238E27FC236}">
                <a16:creationId xmlns:a16="http://schemas.microsoft.com/office/drawing/2014/main" id="{E475EE7C-D21C-4A0D-A220-E042D099BC42}"/>
              </a:ext>
            </a:extLst>
          </p:cNvPr>
          <p:cNvSpPr>
            <a:spLocks xmlns:a="http://schemas.openxmlformats.org/drawingml/2006/main" noGrp="1"/>
          </p:cNvSpPr>
          <p:nvPr/>
        </p:nvSpPr>
        <p:spPr>
          <a:xfrm xmlns:a="http://schemas.openxmlformats.org/drawingml/2006/main">
            <a:off x="6781800" y="2876550"/>
            <a:ext cx="4552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243B53"/>
                </a:solidFill>
              </a:defRPr>
            </a:defPPr>
          </a:lstStyle>
          <a:p xmlns:a="http://schemas.openxmlformats.org/drawingml/2006/main">
            <a:pPr>
              <a:defRPr sz="1425" b="0">
                <a:solidFill>
                  <a:srgbClr val="243B53"/>
                </a:solidFill>
              </a:defRPr>
            </a:pPr>
            <a:r>
              <a:rPr sz="1425" b="0">
                <a:solidFill>
                  <a:srgbClr val="243B53"/>
                </a:solidFill>
              </a:rPr>
              <a:t>Profiling, 10 data-quality controls and field-level reconciliation</a:t>
            </a:r>
          </a:p>
        </p:txBody>
      </p:sp>
      <p:sp>
        <p:nvSpPr>
          <p:cNvPr id="14" name="">
            <a:extLst xmlns:a="http://schemas.openxmlformats.org/drawingml/2006/main">
              <a:ext uri="{FF2B5EF4-FFF2-40B4-BE49-F238E27FC236}">
                <a16:creationId xmlns:a16="http://schemas.microsoft.com/office/drawing/2014/main" id="{FA25A5A5-CF90-44D6-A0F0-6B1A36746915}"/>
              </a:ext>
            </a:extLst>
          </p:cNvPr>
          <p:cNvSpPr>
            <a:spLocks xmlns:a="http://schemas.openxmlformats.org/drawingml/2006/main" noGrp="1"/>
          </p:cNvSpPr>
          <p:nvPr/>
        </p:nvSpPr>
        <p:spPr>
          <a:xfrm xmlns:a="http://schemas.openxmlformats.org/drawingml/2006/main">
            <a:off x="6572250" y="3657600"/>
            <a:ext cx="85725" cy="85725"/>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15" name="">
            <a:extLst xmlns:a="http://schemas.openxmlformats.org/drawingml/2006/main">
              <a:ext uri="{FF2B5EF4-FFF2-40B4-BE49-F238E27FC236}">
                <a16:creationId xmlns:a16="http://schemas.microsoft.com/office/drawing/2014/main" id="{7B9DE1E5-967D-4E0E-8756-5A02E5CC5601}"/>
              </a:ext>
            </a:extLst>
          </p:cNvPr>
          <p:cNvSpPr>
            <a:spLocks xmlns:a="http://schemas.openxmlformats.org/drawingml/2006/main" noGrp="1"/>
          </p:cNvSpPr>
          <p:nvPr/>
        </p:nvSpPr>
        <p:spPr>
          <a:xfrm xmlns:a="http://schemas.openxmlformats.org/drawingml/2006/main">
            <a:off x="6781800" y="3562350"/>
            <a:ext cx="4552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243B53"/>
                </a:solidFill>
              </a:defRPr>
            </a:defPPr>
          </a:lstStyle>
          <a:p xmlns:a="http://schemas.openxmlformats.org/drawingml/2006/main">
            <a:pPr>
              <a:defRPr sz="1425" b="0">
                <a:solidFill>
                  <a:srgbClr val="243B53"/>
                </a:solidFill>
              </a:defRPr>
            </a:pPr>
            <a:r>
              <a:rPr sz="1425" b="0">
                <a:solidFill>
                  <a:srgbClr val="243B53"/>
                </a:solidFill>
              </a:rPr>
              <a:t>Incremental-load behaviour, monitoring and release decisions</a:t>
            </a:r>
          </a:p>
        </p:txBody>
      </p:sp>
      <p:sp>
        <p:nvSpPr>
          <p:cNvPr id="16" name="">
            <a:extLst xmlns:a="http://schemas.openxmlformats.org/drawingml/2006/main">
              <a:ext uri="{FF2B5EF4-FFF2-40B4-BE49-F238E27FC236}">
                <a16:creationId xmlns:a16="http://schemas.microsoft.com/office/drawing/2014/main" id="{86016303-1396-4F90-A37E-060B6423AF9F}"/>
              </a:ext>
            </a:extLst>
          </p:cNvPr>
          <p:cNvSpPr>
            <a:spLocks xmlns:a="http://schemas.openxmlformats.org/drawingml/2006/main" noGrp="1"/>
          </p:cNvSpPr>
          <p:nvPr/>
        </p:nvSpPr>
        <p:spPr>
          <a:xfrm xmlns:a="http://schemas.openxmlformats.org/drawingml/2006/main">
            <a:off x="609600" y="4333875"/>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52606D"/>
                </a:solidFill>
              </a:defRPr>
            </a:defPPr>
          </a:lstStyle>
          <a:p xmlns:a="http://schemas.openxmlformats.org/drawingml/2006/main">
            <a:pPr>
              <a:defRPr sz="1350" b="1">
                <a:solidFill>
                  <a:srgbClr val="52606D"/>
                </a:solidFill>
              </a:defRPr>
            </a:pPr>
            <a:r>
              <a:rPr sz="1350" b="1">
                <a:solidFill>
                  <a:srgbClr val="52606D"/>
                </a:solidFill>
              </a:rPr>
              <a:t>Supplied-data result</a:t>
            </a:r>
          </a:p>
        </p:txBody>
      </p:sp>
      <p:sp>
        <p:nvSpPr>
          <p:cNvPr id="17" name="">
            <a:extLst xmlns:a="http://schemas.openxmlformats.org/drawingml/2006/main">
              <a:ext uri="{FF2B5EF4-FFF2-40B4-BE49-F238E27FC236}">
                <a16:creationId xmlns:a16="http://schemas.microsoft.com/office/drawing/2014/main" id="{91ECA2C5-B180-4699-8F7D-FBA2F39C0993}"/>
              </a:ext>
            </a:extLst>
          </p:cNvPr>
          <p:cNvSpPr>
            <a:spLocks xmlns:a="http://schemas.openxmlformats.org/drawingml/2006/main" noGrp="1"/>
          </p:cNvSpPr>
          <p:nvPr/>
        </p:nvSpPr>
        <p:spPr>
          <a:xfrm xmlns:a="http://schemas.openxmlformats.org/drawingml/2006/main">
            <a:off x="609600" y="46863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025" b="1">
                <a:solidFill>
                  <a:srgbClr val="102A43"/>
                </a:solidFill>
              </a:defRPr>
            </a:defPPr>
          </a:lstStyle>
          <a:p xmlns:a="http://schemas.openxmlformats.org/drawingml/2006/main">
            <a:pPr>
              <a:defRPr sz="2025" b="1">
                <a:solidFill>
                  <a:srgbClr val="102A43"/>
                </a:solidFill>
              </a:defRPr>
            </a:pPr>
            <a:r>
              <a:rPr sz="2025" b="1">
                <a:solidFill>
                  <a:srgbClr val="102A43"/>
                </a:solidFill>
              </a:rPr>
              <a:t>Local validation: 17 findings across 12 employees. Release: BLOCK.</a:t>
            </a:r>
          </a:p>
        </p:txBody>
      </p:sp>
    </p:spTree>
    <p:extLst>
      <p:ext uri="{BB962C8B-B14F-4D97-AF65-F5344CB8AC3E}">
        <p14:creationId xmlns:p14="http://schemas.microsoft.com/office/powerpoint/2010/main" val="953483409"/>
      </p:ext>
    </p:extLst>
  </p:cSld>
</p:sld>
</file>

<file path=ppt/slides/slide3.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3664DE9-B334-4E79-B91A-C98779463C84}"/>
              </a:ext>
            </a:extLst>
          </p:cNvPr>
          <p:cNvSpPr>
            <a:spLocks xmlns:a="http://schemas.openxmlformats.org/drawingml/2006/main" noGrp="1"/>
          </p:cNvSpPr>
          <p:nvPr/>
        </p:nvSpPr>
        <p:spPr>
          <a:xfrm xmlns:a="http://schemas.openxmlformats.org/drawingml/2006/main">
            <a:off x="609600" y="45720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102A43"/>
                </a:solidFill>
              </a:defRPr>
            </a:defPPr>
          </a:lstStyle>
          <a:p xmlns:a="http://schemas.openxmlformats.org/drawingml/2006/main">
            <a:pPr>
              <a:defRPr sz="2400" b="1">
                <a:solidFill>
                  <a:srgbClr val="102A43"/>
                </a:solidFill>
              </a:defRPr>
            </a:pPr>
            <a:r>
              <a:rPr sz="2400" b="1">
                <a:solidFill>
                  <a:srgbClr val="102A43"/>
                </a:solidFill>
              </a:rPr>
              <a:t>Profiling and quality controls</a:t>
            </a:r>
          </a:p>
        </p:txBody>
      </p:sp>
      <p:sp>
        <p:nvSpPr>
          <p:cNvPr id="2" name="">
            <a:extLst xmlns:a="http://schemas.openxmlformats.org/drawingml/2006/main">
              <a:ext uri="{FF2B5EF4-FFF2-40B4-BE49-F238E27FC236}">
                <a16:creationId xmlns:a16="http://schemas.microsoft.com/office/drawing/2014/main" id="{8130EE0D-A9AD-4AD9-BB6A-5EDDC5686341}"/>
              </a:ext>
            </a:extLst>
          </p:cNvPr>
          <p:cNvSpPr>
            <a:spLocks xmlns:a="http://schemas.openxmlformats.org/drawingml/2006/main" noGrp="1"/>
          </p:cNvSpPr>
          <p:nvPr/>
        </p:nvSpPr>
        <p:spPr>
          <a:xfrm xmlns:a="http://schemas.openxmlformats.org/drawingml/2006/main">
            <a:off x="609600" y="942975"/>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2606D"/>
                </a:solidFill>
              </a:defRPr>
            </a:defPPr>
          </a:lstStyle>
          <a:p xmlns:a="http://schemas.openxmlformats.org/drawingml/2006/main">
            <a:pPr>
              <a:defRPr sz="1125" b="0">
                <a:solidFill>
                  <a:srgbClr val="52606D"/>
                </a:solidFill>
              </a:defRPr>
            </a:pPr>
            <a:r>
              <a:rPr sz="1125" b="0">
                <a:solidFill>
                  <a:srgbClr val="52606D"/>
                </a:solidFill>
              </a:rPr>
              <a:t>SQL produces clear table checks; PySpark runs the scalable pipeline controls.</a:t>
            </a:r>
          </a:p>
        </p:txBody>
      </p:sp>
      <p:sp>
        <p:nvSpPr>
          <p:cNvPr id="3" name="">
            <a:extLst xmlns:a="http://schemas.openxmlformats.org/drawingml/2006/main">
              <a:ext uri="{FF2B5EF4-FFF2-40B4-BE49-F238E27FC236}">
                <a16:creationId xmlns:a16="http://schemas.microsoft.com/office/drawing/2014/main" id="{D0F187A4-C3AB-4DEE-9A0F-9FED8A2DE011}"/>
              </a:ext>
            </a:extLst>
          </p:cNvPr>
          <p:cNvSpPr>
            <a:spLocks xmlns:a="http://schemas.openxmlformats.org/drawingml/2006/main" noGrp="1"/>
          </p:cNvSpPr>
          <p:nvPr/>
        </p:nvSpPr>
        <p:spPr>
          <a:xfrm xmlns:a="http://schemas.openxmlformats.org/drawingml/2006/main">
            <a:off x="609600" y="1304925"/>
            <a:ext cx="10953750" cy="38100"/>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4" name="">
            <a:extLst xmlns:a="http://schemas.openxmlformats.org/drawingml/2006/main">
              <a:ext uri="{FF2B5EF4-FFF2-40B4-BE49-F238E27FC236}">
                <a16:creationId xmlns:a16="http://schemas.microsoft.com/office/drawing/2014/main" id="{FDD381F9-36EB-42CE-8D22-90A191EA752F}"/>
              </a:ext>
            </a:extLst>
          </p:cNvPr>
          <p:cNvSpPr>
            <a:spLocks xmlns:a="http://schemas.openxmlformats.org/drawingml/2006/main" noGrp="1"/>
          </p:cNvSpPr>
          <p:nvPr/>
        </p:nvSpPr>
        <p:spPr>
          <a:xfrm xmlns:a="http://schemas.openxmlformats.org/drawingml/2006/main">
            <a:off x="609600" y="64960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0">
                <a:solidFill>
                  <a:srgbClr val="52606D"/>
                </a:solidFill>
              </a:defRPr>
            </a:defPPr>
          </a:lstStyle>
          <a:p xmlns:a="http://schemas.openxmlformats.org/drawingml/2006/main">
            <a:pPr>
              <a:defRPr sz="750" b="0">
                <a:solidFill>
                  <a:srgbClr val="52606D"/>
                </a:solidFill>
              </a:defRPr>
            </a:pPr>
            <a:r>
              <a:rPr sz="750" b="0">
                <a:solidFill>
                  <a:srgbClr val="52606D"/>
                </a:solidFill>
              </a:rPr>
              <a:t>Employee 360 Data Quality | Anthony Grant Apollis</a:t>
            </a:r>
          </a:p>
        </p:txBody>
      </p:sp>
      <p:sp>
        <p:nvSpPr>
          <p:cNvPr id="5" name="">
            <a:extLst xmlns:a="http://schemas.openxmlformats.org/drawingml/2006/main">
              <a:ext uri="{FF2B5EF4-FFF2-40B4-BE49-F238E27FC236}">
                <a16:creationId xmlns:a16="http://schemas.microsoft.com/office/drawing/2014/main" id="{21214FB8-CD7F-4D2B-B519-49A4607F1D1B}"/>
              </a:ext>
            </a:extLst>
          </p:cNvPr>
          <p:cNvSpPr>
            <a:spLocks xmlns:a="http://schemas.openxmlformats.org/drawingml/2006/main" noGrp="1"/>
          </p:cNvSpPr>
          <p:nvPr/>
        </p:nvSpPr>
        <p:spPr>
          <a:xfrm xmlns:a="http://schemas.openxmlformats.org/drawingml/2006/main">
            <a:off x="10858500" y="6496050"/>
            <a:ext cx="723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0">
                <a:solidFill>
                  <a:srgbClr val="52606D"/>
                </a:solidFill>
              </a:defRPr>
            </a:defPPr>
          </a:lstStyle>
          <a:p xmlns:a="http://schemas.openxmlformats.org/drawingml/2006/main">
            <a:pPr>
              <a:defRPr sz="750" b="0">
                <a:solidFill>
                  <a:srgbClr val="52606D"/>
                </a:solidFill>
              </a:defRPr>
            </a:pPr>
            <a:r>
              <a:rPr sz="750" b="0">
                <a:solidFill>
                  <a:srgbClr val="52606D"/>
                </a:solidFill>
              </a:rPr>
              <a:t>3 / 8</a:t>
            </a:r>
          </a:p>
        </p:txBody>
      </p:sp>
      <p:sp>
        <p:nvSpPr>
          <p:cNvPr id="6" name="">
            <a:extLst xmlns:a="http://schemas.openxmlformats.org/drawingml/2006/main">
              <a:ext uri="{FF2B5EF4-FFF2-40B4-BE49-F238E27FC236}">
                <a16:creationId xmlns:a16="http://schemas.microsoft.com/office/drawing/2014/main" id="{E6D7B09F-E09F-4AA3-854D-84FF2EF3EA48}"/>
              </a:ext>
            </a:extLst>
          </p:cNvPr>
          <p:cNvSpPr>
            <a:spLocks xmlns:a="http://schemas.openxmlformats.org/drawingml/2006/main" noGrp="1"/>
          </p:cNvSpPr>
          <p:nvPr/>
        </p:nvSpPr>
        <p:spPr>
          <a:xfrm xmlns:a="http://schemas.openxmlformats.org/drawingml/2006/main">
            <a:off x="609600" y="1733550"/>
            <a:ext cx="590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102A43"/>
                </a:solidFill>
              </a:defRPr>
            </a:defPPr>
          </a:lstStyle>
          <a:p xmlns:a="http://schemas.openxmlformats.org/drawingml/2006/main">
            <a:pPr>
              <a:defRPr sz="1875" b="1">
                <a:solidFill>
                  <a:srgbClr val="102A43"/>
                </a:solidFill>
              </a:defRPr>
            </a:pPr>
            <a:r>
              <a:rPr sz="1875" b="1">
                <a:solidFill>
                  <a:srgbClr val="102A43"/>
                </a:solidFill>
              </a:rPr>
              <a:t>10 controls across seven quality dimensions</a:t>
            </a:r>
          </a:p>
        </p:txBody>
      </p:sp>
      <p:sp>
        <p:nvSpPr>
          <p:cNvPr id="7" name="">
            <a:extLst xmlns:a="http://schemas.openxmlformats.org/drawingml/2006/main">
              <a:ext uri="{FF2B5EF4-FFF2-40B4-BE49-F238E27FC236}">
                <a16:creationId xmlns:a16="http://schemas.microsoft.com/office/drawing/2014/main" id="{45157213-B505-4154-ACBE-683B5E0687B3}"/>
              </a:ext>
            </a:extLst>
          </p:cNvPr>
          <p:cNvSpPr>
            <a:spLocks xmlns:a="http://schemas.openxmlformats.org/drawingml/2006/main" noGrp="1"/>
          </p:cNvSpPr>
          <p:nvPr/>
        </p:nvSpPr>
        <p:spPr>
          <a:xfrm xmlns:a="http://schemas.openxmlformats.org/drawingml/2006/main">
            <a:off x="609600" y="2333625"/>
            <a:ext cx="85725" cy="85725"/>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8" name="">
            <a:extLst xmlns:a="http://schemas.openxmlformats.org/drawingml/2006/main">
              <a:ext uri="{FF2B5EF4-FFF2-40B4-BE49-F238E27FC236}">
                <a16:creationId xmlns:a16="http://schemas.microsoft.com/office/drawing/2014/main" id="{A33226E8-6C92-4C0B-9EC8-151BFCBCC805}"/>
              </a:ext>
            </a:extLst>
          </p:cNvPr>
          <p:cNvSpPr>
            <a:spLocks xmlns:a="http://schemas.openxmlformats.org/drawingml/2006/main" noGrp="1"/>
          </p:cNvSpPr>
          <p:nvPr/>
        </p:nvSpPr>
        <p:spPr>
          <a:xfrm xmlns:a="http://schemas.openxmlformats.org/drawingml/2006/main">
            <a:off x="819150" y="2238375"/>
            <a:ext cx="4743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243B53"/>
                </a:solidFill>
              </a:defRPr>
            </a:defPPr>
          </a:lstStyle>
          <a:p xmlns:a="http://schemas.openxmlformats.org/drawingml/2006/main">
            <a:pPr>
              <a:defRPr sz="1350" b="0">
                <a:solidFill>
                  <a:srgbClr val="243B53"/>
                </a:solidFill>
              </a:defRPr>
            </a:pPr>
            <a:r>
              <a:rPr sz="1350" b="0">
                <a:solidFill>
                  <a:srgbClr val="243B53"/>
                </a:solidFill>
              </a:rPr>
              <a:t>Uniqueness and mandatory fields</a:t>
            </a:r>
          </a:p>
        </p:txBody>
      </p:sp>
      <p:sp>
        <p:nvSpPr>
          <p:cNvPr id="9" name="">
            <a:extLst xmlns:a="http://schemas.openxmlformats.org/drawingml/2006/main">
              <a:ext uri="{FF2B5EF4-FFF2-40B4-BE49-F238E27FC236}">
                <a16:creationId xmlns:a16="http://schemas.microsoft.com/office/drawing/2014/main" id="{432730FD-3CB3-4E7D-A47B-659AAD0D0F5B}"/>
              </a:ext>
            </a:extLst>
          </p:cNvPr>
          <p:cNvSpPr>
            <a:spLocks xmlns:a="http://schemas.openxmlformats.org/drawingml/2006/main" noGrp="1"/>
          </p:cNvSpPr>
          <p:nvPr/>
        </p:nvSpPr>
        <p:spPr>
          <a:xfrm xmlns:a="http://schemas.openxmlformats.org/drawingml/2006/main">
            <a:off x="609600" y="2857500"/>
            <a:ext cx="85725" cy="85725"/>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10" name="">
            <a:extLst xmlns:a="http://schemas.openxmlformats.org/drawingml/2006/main">
              <a:ext uri="{FF2B5EF4-FFF2-40B4-BE49-F238E27FC236}">
                <a16:creationId xmlns:a16="http://schemas.microsoft.com/office/drawing/2014/main" id="{C0A1A994-2094-452B-AC51-1C2BBE4C7BA3}"/>
              </a:ext>
            </a:extLst>
          </p:cNvPr>
          <p:cNvSpPr>
            <a:spLocks xmlns:a="http://schemas.openxmlformats.org/drawingml/2006/main" noGrp="1"/>
          </p:cNvSpPr>
          <p:nvPr/>
        </p:nvSpPr>
        <p:spPr>
          <a:xfrm xmlns:a="http://schemas.openxmlformats.org/drawingml/2006/main">
            <a:off x="819150" y="2762250"/>
            <a:ext cx="4743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243B53"/>
                </a:solidFill>
              </a:defRPr>
            </a:defPPr>
          </a:lstStyle>
          <a:p xmlns:a="http://schemas.openxmlformats.org/drawingml/2006/main">
            <a:pPr>
              <a:defRPr sz="1350" b="0">
                <a:solidFill>
                  <a:srgbClr val="243B53"/>
                </a:solidFill>
              </a:defRPr>
            </a:pPr>
            <a:r>
              <a:rPr sz="1350" b="0">
                <a:solidFill>
                  <a:srgbClr val="243B53"/>
                </a:solidFill>
              </a:rPr>
              <a:t>Manager integrity and status consistency</a:t>
            </a:r>
          </a:p>
        </p:txBody>
      </p:sp>
      <p:sp>
        <p:nvSpPr>
          <p:cNvPr id="11" name="">
            <a:extLst xmlns:a="http://schemas.openxmlformats.org/drawingml/2006/main">
              <a:ext uri="{FF2B5EF4-FFF2-40B4-BE49-F238E27FC236}">
                <a16:creationId xmlns:a16="http://schemas.microsoft.com/office/drawing/2014/main" id="{3E65E8A0-8617-4867-964B-C356B68781BB}"/>
              </a:ext>
            </a:extLst>
          </p:cNvPr>
          <p:cNvSpPr>
            <a:spLocks xmlns:a="http://schemas.openxmlformats.org/drawingml/2006/main" noGrp="1"/>
          </p:cNvSpPr>
          <p:nvPr/>
        </p:nvSpPr>
        <p:spPr>
          <a:xfrm xmlns:a="http://schemas.openxmlformats.org/drawingml/2006/main">
            <a:off x="609600" y="3381375"/>
            <a:ext cx="85725" cy="85725"/>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12" name="">
            <a:extLst xmlns:a="http://schemas.openxmlformats.org/drawingml/2006/main">
              <a:ext uri="{FF2B5EF4-FFF2-40B4-BE49-F238E27FC236}">
                <a16:creationId xmlns:a16="http://schemas.microsoft.com/office/drawing/2014/main" id="{26E96F44-9418-45B7-AC1D-34D3F29607A3}"/>
              </a:ext>
            </a:extLst>
          </p:cNvPr>
          <p:cNvSpPr>
            <a:spLocks xmlns:a="http://schemas.openxmlformats.org/drawingml/2006/main" noGrp="1"/>
          </p:cNvSpPr>
          <p:nvPr/>
        </p:nvSpPr>
        <p:spPr>
          <a:xfrm xmlns:a="http://schemas.openxmlformats.org/drawingml/2006/main">
            <a:off x="819150" y="3286125"/>
            <a:ext cx="4743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243B53"/>
                </a:solidFill>
              </a:defRPr>
            </a:defPPr>
          </a:lstStyle>
          <a:p xmlns:a="http://schemas.openxmlformats.org/drawingml/2006/main">
            <a:pPr>
              <a:defRPr sz="1350" b="0">
                <a:solidFill>
                  <a:srgbClr val="243B53"/>
                </a:solidFill>
              </a:defRPr>
            </a:pPr>
            <a:r>
              <a:rPr sz="1350" b="0">
                <a:solidFill>
                  <a:srgbClr val="243B53"/>
                </a:solidFill>
              </a:rPr>
              <a:t>Salary validity, freshness and payroll conflicts</a:t>
            </a:r>
          </a:p>
        </p:txBody>
      </p:sp>
      <p:sp>
        <p:nvSpPr>
          <p:cNvPr id="13" name="">
            <a:extLst xmlns:a="http://schemas.openxmlformats.org/drawingml/2006/main">
              <a:ext uri="{FF2B5EF4-FFF2-40B4-BE49-F238E27FC236}">
                <a16:creationId xmlns:a16="http://schemas.microsoft.com/office/drawing/2014/main" id="{7F56EB88-FF34-4C1A-8CB1-774EF2772DCB}"/>
              </a:ext>
            </a:extLst>
          </p:cNvPr>
          <p:cNvSpPr>
            <a:spLocks xmlns:a="http://schemas.openxmlformats.org/drawingml/2006/main" noGrp="1"/>
          </p:cNvSpPr>
          <p:nvPr/>
        </p:nvSpPr>
        <p:spPr>
          <a:xfrm xmlns:a="http://schemas.openxmlformats.org/drawingml/2006/main">
            <a:off x="609600" y="3905250"/>
            <a:ext cx="85725" cy="85725"/>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14" name="">
            <a:extLst xmlns:a="http://schemas.openxmlformats.org/drawingml/2006/main">
              <a:ext uri="{FF2B5EF4-FFF2-40B4-BE49-F238E27FC236}">
                <a16:creationId xmlns:a16="http://schemas.microsoft.com/office/drawing/2014/main" id="{8976997C-E86E-4024-9441-1461B551EE94}"/>
              </a:ext>
            </a:extLst>
          </p:cNvPr>
          <p:cNvSpPr>
            <a:spLocks xmlns:a="http://schemas.openxmlformats.org/drawingml/2006/main" noGrp="1"/>
          </p:cNvSpPr>
          <p:nvPr/>
        </p:nvSpPr>
        <p:spPr>
          <a:xfrm xmlns:a="http://schemas.openxmlformats.org/drawingml/2006/main">
            <a:off x="819150" y="3810000"/>
            <a:ext cx="4743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243B53"/>
                </a:solidFill>
              </a:defRPr>
            </a:defPPr>
          </a:lstStyle>
          <a:p xmlns:a="http://schemas.openxmlformats.org/drawingml/2006/main">
            <a:pPr>
              <a:defRPr sz="1350" b="0">
                <a:solidFill>
                  <a:srgbClr val="243B53"/>
                </a:solidFill>
              </a:defRPr>
            </a:pPr>
            <a:r>
              <a:rPr sz="1350" b="0">
                <a:solidFill>
                  <a:srgbClr val="243B53"/>
                </a:solidFill>
              </a:rPr>
              <a:t>Source-to-target reconciliation</a:t>
            </a:r>
          </a:p>
        </p:txBody>
      </p:sp>
      <p:pic>
        <p:nvPicPr>
          <p:cNvPr id="15" name="">
            <a:extLst xmlns:a="http://schemas.openxmlformats.org/drawingml/2006/main">
              <a:ext uri="{FF2B5EF4-FFF2-40B4-BE49-F238E27FC236}">
                <a16:creationId xmlns:a16="http://schemas.microsoft.com/office/drawing/2014/main" id="{EE6F50AB-62B0-402F-B225-E12DB0D59876}"/>
              </a:ext>
            </a:extLst>
          </p:cNvPr>
          <p:cNvPicPr>
            <a:picLocks xmlns:a="http://schemas.openxmlformats.org/drawingml/2006/main" noChangeAspect="1"/>
          </p:cNvPicPr>
          <p:nvPr/>
        </p:nvPicPr>
        <p:blipFill>
          <a:blip xmlns:r="http://schemas.openxmlformats.org/officeDocument/2006/relationships" xmlns:a="http://schemas.openxmlformats.org/drawingml/2006/main" r:embed="Re09bf322190448bb"/>
          <a:stretch xmlns:a="http://schemas.openxmlformats.org/drawingml/2006/main"/>
        </p:blipFill>
        <p:spPr>
          <a:xfrm xmlns:a="http://schemas.openxmlformats.org/drawingml/2006/main">
            <a:off x="6191250" y="1766556"/>
            <a:ext cx="5238750" cy="3305839"/>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7BE97A11-9E92-4D78-8A67-E46DC742FE4E}"/>
              </a:ext>
            </a:extLst>
          </p:cNvPr>
          <p:cNvSpPr>
            <a:spLocks xmlns:a="http://schemas.openxmlformats.org/drawingml/2006/main" noGrp="1"/>
          </p:cNvSpPr>
          <p:nvPr/>
        </p:nvSpPr>
        <p:spPr>
          <a:xfrm xmlns:a="http://schemas.openxmlformats.org/drawingml/2006/main">
            <a:off x="609600" y="5429250"/>
            <a:ext cx="1038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243B53"/>
                </a:solidFill>
              </a:defRPr>
            </a:defPPr>
          </a:lstStyle>
          <a:p xmlns:a="http://schemas.openxmlformats.org/drawingml/2006/main">
            <a:pPr>
              <a:defRPr sz="1650" b="1">
                <a:solidFill>
                  <a:srgbClr val="243B53"/>
                </a:solidFill>
              </a:defRPr>
            </a:pPr>
            <a:r>
              <a:rPr sz="1650" b="1">
                <a:solidFill>
                  <a:srgbClr val="243B53"/>
                </a:solidFill>
              </a:rPr>
              <a:t>Rules return affected employee IDs, severity and a release action. They do not simply return a row count.</a:t>
            </a:r>
          </a:p>
        </p:txBody>
      </p:sp>
    </p:spTree>
    <p:extLst>
      <p:ext uri="{BB962C8B-B14F-4D97-AF65-F5344CB8AC3E}">
        <p14:creationId xmlns:p14="http://schemas.microsoft.com/office/powerpoint/2010/main" val="3688384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000DAD1-732E-407B-9D6F-EBFAC0966E3A}"/>
              </a:ext>
            </a:extLst>
          </p:cNvPr>
          <p:cNvSpPr>
            <a:spLocks xmlns:a="http://schemas.openxmlformats.org/drawingml/2006/main" noGrp="1"/>
          </p:cNvSpPr>
          <p:nvPr/>
        </p:nvSpPr>
        <p:spPr>
          <a:xfrm xmlns:a="http://schemas.openxmlformats.org/drawingml/2006/main">
            <a:off x="609600" y="45720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102A43"/>
                </a:solidFill>
              </a:defRPr>
            </a:defPPr>
          </a:lstStyle>
          <a:p xmlns:a="http://schemas.openxmlformats.org/drawingml/2006/main">
            <a:pPr>
              <a:defRPr sz="2400" b="1">
                <a:solidFill>
                  <a:srgbClr val="102A43"/>
                </a:solidFill>
              </a:defRPr>
            </a:pPr>
            <a:r>
              <a:rPr sz="2400" b="1">
                <a:solidFill>
                  <a:srgbClr val="102A43"/>
                </a:solidFill>
              </a:rPr>
              <a:t>Field-level reconciliation and root cause</a:t>
            </a:r>
          </a:p>
        </p:txBody>
      </p:sp>
      <p:sp>
        <p:nvSpPr>
          <p:cNvPr id="2" name="">
            <a:extLst xmlns:a="http://schemas.openxmlformats.org/drawingml/2006/main">
              <a:ext uri="{FF2B5EF4-FFF2-40B4-BE49-F238E27FC236}">
                <a16:creationId xmlns:a16="http://schemas.microsoft.com/office/drawing/2014/main" id="{AEB2084B-EA64-4FAC-9EDF-206636BE3933}"/>
              </a:ext>
            </a:extLst>
          </p:cNvPr>
          <p:cNvSpPr>
            <a:spLocks xmlns:a="http://schemas.openxmlformats.org/drawingml/2006/main" noGrp="1"/>
          </p:cNvSpPr>
          <p:nvPr/>
        </p:nvSpPr>
        <p:spPr>
          <a:xfrm xmlns:a="http://schemas.openxmlformats.org/drawingml/2006/main">
            <a:off x="609600" y="942975"/>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2606D"/>
                </a:solidFill>
              </a:defRPr>
            </a:defPPr>
          </a:lstStyle>
          <a:p xmlns:a="http://schemas.openxmlformats.org/drawingml/2006/main">
            <a:pPr>
              <a:defRPr sz="1125" b="0">
                <a:solidFill>
                  <a:srgbClr val="52606D"/>
                </a:solidFill>
              </a:defRPr>
            </a:pPr>
            <a:r>
              <a:rPr sz="1125" b="0">
                <a:solidFill>
                  <a:srgbClr val="52606D"/>
                </a:solidFill>
              </a:rPr>
              <a:t>The comparison checks individual attributes, not only record totals.</a:t>
            </a:r>
          </a:p>
        </p:txBody>
      </p:sp>
      <p:sp>
        <p:nvSpPr>
          <p:cNvPr id="3" name="">
            <a:extLst xmlns:a="http://schemas.openxmlformats.org/drawingml/2006/main">
              <a:ext uri="{FF2B5EF4-FFF2-40B4-BE49-F238E27FC236}">
                <a16:creationId xmlns:a16="http://schemas.microsoft.com/office/drawing/2014/main" id="{3BBBAB90-CD46-405D-A18D-26A648612189}"/>
              </a:ext>
            </a:extLst>
          </p:cNvPr>
          <p:cNvSpPr>
            <a:spLocks xmlns:a="http://schemas.openxmlformats.org/drawingml/2006/main" noGrp="1"/>
          </p:cNvSpPr>
          <p:nvPr/>
        </p:nvSpPr>
        <p:spPr>
          <a:xfrm xmlns:a="http://schemas.openxmlformats.org/drawingml/2006/main">
            <a:off x="609600" y="1304925"/>
            <a:ext cx="10953750" cy="38100"/>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4" name="">
            <a:extLst xmlns:a="http://schemas.openxmlformats.org/drawingml/2006/main">
              <a:ext uri="{FF2B5EF4-FFF2-40B4-BE49-F238E27FC236}">
                <a16:creationId xmlns:a16="http://schemas.microsoft.com/office/drawing/2014/main" id="{8267AFF8-2A05-4658-A934-52D3997C2F70}"/>
              </a:ext>
            </a:extLst>
          </p:cNvPr>
          <p:cNvSpPr>
            <a:spLocks xmlns:a="http://schemas.openxmlformats.org/drawingml/2006/main" noGrp="1"/>
          </p:cNvSpPr>
          <p:nvPr/>
        </p:nvSpPr>
        <p:spPr>
          <a:xfrm xmlns:a="http://schemas.openxmlformats.org/drawingml/2006/main">
            <a:off x="609600" y="64960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0">
                <a:solidFill>
                  <a:srgbClr val="52606D"/>
                </a:solidFill>
              </a:defRPr>
            </a:defPPr>
          </a:lstStyle>
          <a:p xmlns:a="http://schemas.openxmlformats.org/drawingml/2006/main">
            <a:pPr>
              <a:defRPr sz="750" b="0">
                <a:solidFill>
                  <a:srgbClr val="52606D"/>
                </a:solidFill>
              </a:defRPr>
            </a:pPr>
            <a:r>
              <a:rPr sz="750" b="0">
                <a:solidFill>
                  <a:srgbClr val="52606D"/>
                </a:solidFill>
              </a:rPr>
              <a:t>Employee 360 Data Quality | Anthony Grant Apollis</a:t>
            </a:r>
          </a:p>
        </p:txBody>
      </p:sp>
      <p:sp>
        <p:nvSpPr>
          <p:cNvPr id="5" name="">
            <a:extLst xmlns:a="http://schemas.openxmlformats.org/drawingml/2006/main">
              <a:ext uri="{FF2B5EF4-FFF2-40B4-BE49-F238E27FC236}">
                <a16:creationId xmlns:a16="http://schemas.microsoft.com/office/drawing/2014/main" id="{4C3BF01F-A2EF-4149-8ECA-DDC130351F63}"/>
              </a:ext>
            </a:extLst>
          </p:cNvPr>
          <p:cNvSpPr>
            <a:spLocks xmlns:a="http://schemas.openxmlformats.org/drawingml/2006/main" noGrp="1"/>
          </p:cNvSpPr>
          <p:nvPr/>
        </p:nvSpPr>
        <p:spPr>
          <a:xfrm xmlns:a="http://schemas.openxmlformats.org/drawingml/2006/main">
            <a:off x="10858500" y="6496050"/>
            <a:ext cx="723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0">
                <a:solidFill>
                  <a:srgbClr val="52606D"/>
                </a:solidFill>
              </a:defRPr>
            </a:defPPr>
          </a:lstStyle>
          <a:p xmlns:a="http://schemas.openxmlformats.org/drawingml/2006/main">
            <a:pPr>
              <a:defRPr sz="750" b="0">
                <a:solidFill>
                  <a:srgbClr val="52606D"/>
                </a:solidFill>
              </a:defRPr>
            </a:pPr>
            <a:r>
              <a:rPr sz="750" b="0">
                <a:solidFill>
                  <a:srgbClr val="52606D"/>
                </a:solidFill>
              </a:rPr>
              <a:t>4 / 8</a:t>
            </a:r>
          </a:p>
        </p:txBody>
      </p:sp>
      <p:pic>
        <p:nvPicPr>
          <p:cNvPr id="6" name="">
            <a:extLst xmlns:a="http://schemas.openxmlformats.org/drawingml/2006/main">
              <a:ext uri="{FF2B5EF4-FFF2-40B4-BE49-F238E27FC236}">
                <a16:creationId xmlns:a16="http://schemas.microsoft.com/office/drawing/2014/main" id="{9059A878-F264-4B0E-A34E-43DB7C630971}"/>
              </a:ext>
            </a:extLst>
          </p:cNvPr>
          <p:cNvPicPr>
            <a:picLocks xmlns:a="http://schemas.openxmlformats.org/drawingml/2006/main" noChangeAspect="1"/>
          </p:cNvPicPr>
          <p:nvPr/>
        </p:nvPicPr>
        <p:blipFill>
          <a:blip xmlns:r="http://schemas.openxmlformats.org/officeDocument/2006/relationships" xmlns:a="http://schemas.openxmlformats.org/drawingml/2006/main" r:embed="R123a6c48e3a44b14"/>
          <a:stretch xmlns:a="http://schemas.openxmlformats.org/drawingml/2006/main"/>
        </p:blipFill>
        <p:spPr>
          <a:xfrm xmlns:a="http://schemas.openxmlformats.org/drawingml/2006/main">
            <a:off x="609600" y="2237224"/>
            <a:ext cx="5334000" cy="252642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8369CD5-BD59-4FE7-97FD-D66C88837BEA}"/>
              </a:ext>
            </a:extLst>
          </p:cNvPr>
          <p:cNvSpPr>
            <a:spLocks xmlns:a="http://schemas.openxmlformats.org/drawingml/2006/main" noGrp="1"/>
          </p:cNvSpPr>
          <p:nvPr/>
        </p:nvSpPr>
        <p:spPr>
          <a:xfrm xmlns:a="http://schemas.openxmlformats.org/drawingml/2006/main">
            <a:off x="6496050" y="16954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A43"/>
                </a:solidFill>
              </a:defRPr>
            </a:defPPr>
          </a:lstStyle>
          <a:p xmlns:a="http://schemas.openxmlformats.org/drawingml/2006/main">
            <a:pPr>
              <a:defRPr sz="1650" b="1">
                <a:solidFill>
                  <a:srgbClr val="102A43"/>
                </a:solidFill>
              </a:defRPr>
            </a:pPr>
            <a:r>
              <a:rPr sz="1650" b="1">
                <a:solidFill>
                  <a:srgbClr val="102A43"/>
                </a:solidFill>
              </a:rPr>
              <a:t>What the comparison found</a:t>
            </a:r>
          </a:p>
        </p:txBody>
      </p:sp>
      <p:sp>
        <p:nvSpPr>
          <p:cNvPr id="8" name="">
            <a:extLst xmlns:a="http://schemas.openxmlformats.org/drawingml/2006/main">
              <a:ext uri="{FF2B5EF4-FFF2-40B4-BE49-F238E27FC236}">
                <a16:creationId xmlns:a16="http://schemas.microsoft.com/office/drawing/2014/main" id="{BF3C14D4-E30F-4549-80E8-04D481C06F98}"/>
              </a:ext>
            </a:extLst>
          </p:cNvPr>
          <p:cNvSpPr>
            <a:spLocks xmlns:a="http://schemas.openxmlformats.org/drawingml/2006/main" noGrp="1"/>
          </p:cNvSpPr>
          <p:nvPr/>
        </p:nvSpPr>
        <p:spPr>
          <a:xfrm xmlns:a="http://schemas.openxmlformats.org/drawingml/2006/main">
            <a:off x="6496050" y="2266950"/>
            <a:ext cx="85725" cy="85725"/>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9" name="">
            <a:extLst xmlns:a="http://schemas.openxmlformats.org/drawingml/2006/main">
              <a:ext uri="{FF2B5EF4-FFF2-40B4-BE49-F238E27FC236}">
                <a16:creationId xmlns:a16="http://schemas.microsoft.com/office/drawing/2014/main" id="{7F594739-DF94-45C9-AAC8-3AC25FB67129}"/>
              </a:ext>
            </a:extLst>
          </p:cNvPr>
          <p:cNvSpPr>
            <a:spLocks xmlns:a="http://schemas.openxmlformats.org/drawingml/2006/main" noGrp="1"/>
          </p:cNvSpPr>
          <p:nvPr/>
        </p:nvSpPr>
        <p:spPr>
          <a:xfrm xmlns:a="http://schemas.openxmlformats.org/drawingml/2006/main">
            <a:off x="6705600" y="2171700"/>
            <a:ext cx="4552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43B53"/>
                </a:solidFill>
              </a:defRPr>
            </a:defPPr>
          </a:lstStyle>
          <a:p xmlns:a="http://schemas.openxmlformats.org/drawingml/2006/main">
            <a:pPr>
              <a:defRPr sz="1200" b="0">
                <a:solidFill>
                  <a:srgbClr val="243B53"/>
                </a:solidFill>
              </a:defRPr>
            </a:pPr>
            <a:r>
              <a:rPr sz="1200" b="0">
                <a:solidFill>
                  <a:srgbClr val="243B53"/>
                </a:solidFill>
              </a:rPr>
              <a:t>E1027 exists in HR but is missing downstream</a:t>
            </a:r>
          </a:p>
        </p:txBody>
      </p:sp>
      <p:sp>
        <p:nvSpPr>
          <p:cNvPr id="10" name="">
            <a:extLst xmlns:a="http://schemas.openxmlformats.org/drawingml/2006/main">
              <a:ext uri="{FF2B5EF4-FFF2-40B4-BE49-F238E27FC236}">
                <a16:creationId xmlns:a16="http://schemas.microsoft.com/office/drawing/2014/main" id="{C2FAEA10-C22B-441C-B018-0A149A7C752B}"/>
              </a:ext>
            </a:extLst>
          </p:cNvPr>
          <p:cNvSpPr>
            <a:spLocks xmlns:a="http://schemas.openxmlformats.org/drawingml/2006/main" noGrp="1"/>
          </p:cNvSpPr>
          <p:nvPr/>
        </p:nvSpPr>
        <p:spPr>
          <a:xfrm xmlns:a="http://schemas.openxmlformats.org/drawingml/2006/main">
            <a:off x="6496050" y="2790825"/>
            <a:ext cx="85725" cy="85725"/>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11" name="">
            <a:extLst xmlns:a="http://schemas.openxmlformats.org/drawingml/2006/main">
              <a:ext uri="{FF2B5EF4-FFF2-40B4-BE49-F238E27FC236}">
                <a16:creationId xmlns:a16="http://schemas.microsoft.com/office/drawing/2014/main" id="{C4795176-41B3-4DFA-A6F6-549358291A63}"/>
              </a:ext>
            </a:extLst>
          </p:cNvPr>
          <p:cNvSpPr>
            <a:spLocks xmlns:a="http://schemas.openxmlformats.org/drawingml/2006/main" noGrp="1"/>
          </p:cNvSpPr>
          <p:nvPr/>
        </p:nvSpPr>
        <p:spPr>
          <a:xfrm xmlns:a="http://schemas.openxmlformats.org/drawingml/2006/main">
            <a:off x="6705600" y="2695575"/>
            <a:ext cx="4552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43B53"/>
                </a:solidFill>
              </a:defRPr>
            </a:defPPr>
          </a:lstStyle>
          <a:p xmlns:a="http://schemas.openxmlformats.org/drawingml/2006/main">
            <a:pPr>
              <a:defRPr sz="1200" b="0">
                <a:solidFill>
                  <a:srgbClr val="243B53"/>
                </a:solidFill>
              </a:defRPr>
            </a:pPr>
            <a:r>
              <a:rPr sz="1200" b="0">
                <a:solidFill>
                  <a:srgbClr val="243B53"/>
                </a:solidFill>
              </a:rPr>
              <a:t>E1099 exists downstream without an HR record</a:t>
            </a:r>
          </a:p>
        </p:txBody>
      </p:sp>
      <p:sp>
        <p:nvSpPr>
          <p:cNvPr id="12" name="">
            <a:extLst xmlns:a="http://schemas.openxmlformats.org/drawingml/2006/main">
              <a:ext uri="{FF2B5EF4-FFF2-40B4-BE49-F238E27FC236}">
                <a16:creationId xmlns:a16="http://schemas.microsoft.com/office/drawing/2014/main" id="{70F3C208-F164-41A2-B6D0-370E19C9A95B}"/>
              </a:ext>
            </a:extLst>
          </p:cNvPr>
          <p:cNvSpPr>
            <a:spLocks xmlns:a="http://schemas.openxmlformats.org/drawingml/2006/main" noGrp="1"/>
          </p:cNvSpPr>
          <p:nvPr/>
        </p:nvSpPr>
        <p:spPr>
          <a:xfrm xmlns:a="http://schemas.openxmlformats.org/drawingml/2006/main">
            <a:off x="6496050" y="3314700"/>
            <a:ext cx="85725" cy="85725"/>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13" name="">
            <a:extLst xmlns:a="http://schemas.openxmlformats.org/drawingml/2006/main">
              <a:ext uri="{FF2B5EF4-FFF2-40B4-BE49-F238E27FC236}">
                <a16:creationId xmlns:a16="http://schemas.microsoft.com/office/drawing/2014/main" id="{CB8EC023-01A4-463C-9B5E-7DC29154F1AA}"/>
              </a:ext>
            </a:extLst>
          </p:cNvPr>
          <p:cNvSpPr>
            <a:spLocks xmlns:a="http://schemas.openxmlformats.org/drawingml/2006/main" noGrp="1"/>
          </p:cNvSpPr>
          <p:nvPr/>
        </p:nvSpPr>
        <p:spPr>
          <a:xfrm xmlns:a="http://schemas.openxmlformats.org/drawingml/2006/main">
            <a:off x="6705600" y="3219450"/>
            <a:ext cx="4552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43B53"/>
                </a:solidFill>
              </a:defRPr>
            </a:defPPr>
          </a:lstStyle>
          <a:p xmlns:a="http://schemas.openxmlformats.org/drawingml/2006/main">
            <a:pPr>
              <a:defRPr sz="1200" b="0">
                <a:solidFill>
                  <a:srgbClr val="243B53"/>
                </a:solidFill>
              </a:defRPr>
            </a:pPr>
            <a:r>
              <a:rPr sz="1200" b="0">
                <a:solidFill>
                  <a:srgbClr val="243B53"/>
                </a:solidFill>
              </a:rPr>
              <a:t>Six field errors affect status, salary or currency</a:t>
            </a:r>
          </a:p>
        </p:txBody>
      </p:sp>
      <p:sp>
        <p:nvSpPr>
          <p:cNvPr id="14" name="">
            <a:extLst xmlns:a="http://schemas.openxmlformats.org/drawingml/2006/main">
              <a:ext uri="{FF2B5EF4-FFF2-40B4-BE49-F238E27FC236}">
                <a16:creationId xmlns:a16="http://schemas.microsoft.com/office/drawing/2014/main" id="{A7C133EA-C52E-475C-AD06-CE04A3649FF6}"/>
              </a:ext>
            </a:extLst>
          </p:cNvPr>
          <p:cNvSpPr>
            <a:spLocks xmlns:a="http://schemas.openxmlformats.org/drawingml/2006/main" noGrp="1"/>
          </p:cNvSpPr>
          <p:nvPr/>
        </p:nvSpPr>
        <p:spPr>
          <a:xfrm xmlns:a="http://schemas.openxmlformats.org/drawingml/2006/main">
            <a:off x="6496050" y="3838575"/>
            <a:ext cx="85725" cy="85725"/>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15" name="">
            <a:extLst xmlns:a="http://schemas.openxmlformats.org/drawingml/2006/main">
              <a:ext uri="{FF2B5EF4-FFF2-40B4-BE49-F238E27FC236}">
                <a16:creationId xmlns:a16="http://schemas.microsoft.com/office/drawing/2014/main" id="{348D506D-E59E-4ABE-9970-B0D4FCDA7423}"/>
              </a:ext>
            </a:extLst>
          </p:cNvPr>
          <p:cNvSpPr>
            <a:spLocks xmlns:a="http://schemas.openxmlformats.org/drawingml/2006/main" noGrp="1"/>
          </p:cNvSpPr>
          <p:nvPr/>
        </p:nvSpPr>
        <p:spPr>
          <a:xfrm xmlns:a="http://schemas.openxmlformats.org/drawingml/2006/main">
            <a:off x="6705600" y="3743325"/>
            <a:ext cx="4552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43B53"/>
                </a:solidFill>
              </a:defRPr>
            </a:defPPr>
          </a:lstStyle>
          <a:p xmlns:a="http://schemas.openxmlformats.org/drawingml/2006/main">
            <a:pPr>
              <a:defRPr sz="1200" b="0">
                <a:solidFill>
                  <a:srgbClr val="243B53"/>
                </a:solidFill>
              </a:defRPr>
            </a:pPr>
            <a:r>
              <a:rPr sz="1200" b="0">
                <a:solidFill>
                  <a:srgbClr val="243B53"/>
                </a:solidFill>
              </a:rPr>
              <a:t>E1015 has conflicting payroll values and remains Cannot verify</a:t>
            </a:r>
          </a:p>
        </p:txBody>
      </p:sp>
      <p:sp>
        <p:nvSpPr>
          <p:cNvPr id="16" name="">
            <a:extLst xmlns:a="http://schemas.openxmlformats.org/drawingml/2006/main">
              <a:ext uri="{FF2B5EF4-FFF2-40B4-BE49-F238E27FC236}">
                <a16:creationId xmlns:a16="http://schemas.microsoft.com/office/drawing/2014/main" id="{3FA87001-E16D-4186-A962-EB0B949FA2E1}"/>
              </a:ext>
            </a:extLst>
          </p:cNvPr>
          <p:cNvSpPr>
            <a:spLocks xmlns:a="http://schemas.openxmlformats.org/drawingml/2006/main" noGrp="1"/>
          </p:cNvSpPr>
          <p:nvPr/>
        </p:nvSpPr>
        <p:spPr>
          <a:xfrm xmlns:a="http://schemas.openxmlformats.org/drawingml/2006/main">
            <a:off x="6496050" y="4362450"/>
            <a:ext cx="85725" cy="85725"/>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17" name="">
            <a:extLst xmlns:a="http://schemas.openxmlformats.org/drawingml/2006/main">
              <a:ext uri="{FF2B5EF4-FFF2-40B4-BE49-F238E27FC236}">
                <a16:creationId xmlns:a16="http://schemas.microsoft.com/office/drawing/2014/main" id="{CB231542-C875-4C29-B492-E833B80502FB}"/>
              </a:ext>
            </a:extLst>
          </p:cNvPr>
          <p:cNvSpPr>
            <a:spLocks xmlns:a="http://schemas.openxmlformats.org/drawingml/2006/main" noGrp="1"/>
          </p:cNvSpPr>
          <p:nvPr/>
        </p:nvSpPr>
        <p:spPr>
          <a:xfrm xmlns:a="http://schemas.openxmlformats.org/drawingml/2006/main">
            <a:off x="6705600" y="4267200"/>
            <a:ext cx="4552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43B53"/>
                </a:solidFill>
              </a:defRPr>
            </a:defPPr>
          </a:lstStyle>
          <a:p xmlns:a="http://schemas.openxmlformats.org/drawingml/2006/main">
            <a:pPr>
              <a:defRPr sz="1200" b="0">
                <a:solidFill>
                  <a:srgbClr val="243B53"/>
                </a:solidFill>
              </a:defRPr>
            </a:pPr>
            <a:r>
              <a:rPr sz="1200" b="0">
                <a:solidFill>
                  <a:srgbClr val="243B53"/>
                </a:solidFill>
              </a:rPr>
              <a:t>E1042 is a future-dated legitimate exception, not a failure</a:t>
            </a:r>
          </a:p>
        </p:txBody>
      </p:sp>
      <p:sp>
        <p:nvSpPr>
          <p:cNvPr id="18" name="">
            <a:extLst xmlns:a="http://schemas.openxmlformats.org/drawingml/2006/main">
              <a:ext uri="{FF2B5EF4-FFF2-40B4-BE49-F238E27FC236}">
                <a16:creationId xmlns:a16="http://schemas.microsoft.com/office/drawing/2014/main" id="{913C41AF-B1C2-4FAC-B292-4AD4A2AD039B}"/>
              </a:ext>
            </a:extLst>
          </p:cNvPr>
          <p:cNvSpPr>
            <a:spLocks xmlns:a="http://schemas.openxmlformats.org/drawingml/2006/main" noGrp="1"/>
          </p:cNvSpPr>
          <p:nvPr/>
        </p:nvSpPr>
        <p:spPr>
          <a:xfrm xmlns:a="http://schemas.openxmlformats.org/drawingml/2006/main">
            <a:off x="6496050" y="5143500"/>
            <a:ext cx="4762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243B53"/>
                </a:solidFill>
              </a:defRPr>
            </a:defPPr>
          </a:lstStyle>
          <a:p xmlns:a="http://schemas.openxmlformats.org/drawingml/2006/main">
            <a:pPr>
              <a:defRPr sz="1275" b="1">
                <a:solidFill>
                  <a:srgbClr val="243B53"/>
                </a:solidFill>
              </a:defRPr>
            </a:pPr>
            <a:r>
              <a:rPr sz="1275" b="1">
                <a:solidFill>
                  <a:srgbClr val="243B53"/>
                </a:solidFill>
              </a:rPr>
              <a:t>Root cause evidence: E1099 matches E1028 on all eight tested attributes, supporting a copied-record finding.</a:t>
            </a:r>
          </a:p>
        </p:txBody>
      </p:sp>
    </p:spTree>
    <p:extLst>
      <p:ext uri="{BB962C8B-B14F-4D97-AF65-F5344CB8AC3E}">
        <p14:creationId xmlns:p14="http://schemas.microsoft.com/office/powerpoint/2010/main" val="1894691514"/>
      </p:ext>
    </p:extLst>
  </p:cSld>
</p:sld>
</file>

<file path=ppt/slides/slide5.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92F2FCD-6A00-4F33-9067-72B2BF219207}"/>
              </a:ext>
            </a:extLst>
          </p:cNvPr>
          <p:cNvSpPr>
            <a:spLocks xmlns:a="http://schemas.openxmlformats.org/drawingml/2006/main" noGrp="1"/>
          </p:cNvSpPr>
          <p:nvPr/>
        </p:nvSpPr>
        <p:spPr>
          <a:xfrm xmlns:a="http://schemas.openxmlformats.org/drawingml/2006/main">
            <a:off x="609600" y="45720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102A43"/>
                </a:solidFill>
              </a:defRPr>
            </a:defPPr>
          </a:lstStyle>
          <a:p xmlns:a="http://schemas.openxmlformats.org/drawingml/2006/main">
            <a:pPr>
              <a:defRPr sz="2400" b="1">
                <a:solidFill>
                  <a:srgbClr val="102A43"/>
                </a:solidFill>
              </a:defRPr>
            </a:pPr>
            <a:r>
              <a:rPr sz="2400" b="1">
                <a:solidFill>
                  <a:srgbClr val="102A43"/>
                </a:solidFill>
              </a:rPr>
              <a:t>Incremental loading and issue lifecycle</a:t>
            </a:r>
          </a:p>
        </p:txBody>
      </p:sp>
      <p:sp>
        <p:nvSpPr>
          <p:cNvPr id="2" name="">
            <a:extLst xmlns:a="http://schemas.openxmlformats.org/drawingml/2006/main">
              <a:ext uri="{FF2B5EF4-FFF2-40B4-BE49-F238E27FC236}">
                <a16:creationId xmlns:a16="http://schemas.microsoft.com/office/drawing/2014/main" id="{775226BB-B599-455D-A473-D247E47D0C87}"/>
              </a:ext>
            </a:extLst>
          </p:cNvPr>
          <p:cNvSpPr>
            <a:spLocks xmlns:a="http://schemas.openxmlformats.org/drawingml/2006/main" noGrp="1"/>
          </p:cNvSpPr>
          <p:nvPr/>
        </p:nvSpPr>
        <p:spPr>
          <a:xfrm xmlns:a="http://schemas.openxmlformats.org/drawingml/2006/main">
            <a:off x="609600" y="942975"/>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2606D"/>
                </a:solidFill>
              </a:defRPr>
            </a:defPPr>
          </a:lstStyle>
          <a:p xmlns:a="http://schemas.openxmlformats.org/drawingml/2006/main">
            <a:pPr>
              <a:defRPr sz="1125" b="0">
                <a:solidFill>
                  <a:srgbClr val="52606D"/>
                </a:solidFill>
              </a:defRPr>
            </a:pPr>
            <a:r>
              <a:rPr sz="1125" b="0">
                <a:solidFill>
                  <a:srgbClr val="52606D"/>
                </a:solidFill>
              </a:rPr>
              <a:t>The three-run sequence proves change handling without changing the supplied evidence.</a:t>
            </a:r>
          </a:p>
        </p:txBody>
      </p:sp>
      <p:sp>
        <p:nvSpPr>
          <p:cNvPr id="3" name="">
            <a:extLst xmlns:a="http://schemas.openxmlformats.org/drawingml/2006/main">
              <a:ext uri="{FF2B5EF4-FFF2-40B4-BE49-F238E27FC236}">
                <a16:creationId xmlns:a16="http://schemas.microsoft.com/office/drawing/2014/main" id="{EF5E1774-16D9-4FBC-A87A-892F397F444C}"/>
              </a:ext>
            </a:extLst>
          </p:cNvPr>
          <p:cNvSpPr>
            <a:spLocks xmlns:a="http://schemas.openxmlformats.org/drawingml/2006/main" noGrp="1"/>
          </p:cNvSpPr>
          <p:nvPr/>
        </p:nvSpPr>
        <p:spPr>
          <a:xfrm xmlns:a="http://schemas.openxmlformats.org/drawingml/2006/main">
            <a:off x="609600" y="1304925"/>
            <a:ext cx="10953750" cy="38100"/>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4" name="">
            <a:extLst xmlns:a="http://schemas.openxmlformats.org/drawingml/2006/main">
              <a:ext uri="{FF2B5EF4-FFF2-40B4-BE49-F238E27FC236}">
                <a16:creationId xmlns:a16="http://schemas.microsoft.com/office/drawing/2014/main" id="{0797891D-5493-44D7-8497-EF67C07DBA9E}"/>
              </a:ext>
            </a:extLst>
          </p:cNvPr>
          <p:cNvSpPr>
            <a:spLocks xmlns:a="http://schemas.openxmlformats.org/drawingml/2006/main" noGrp="1"/>
          </p:cNvSpPr>
          <p:nvPr/>
        </p:nvSpPr>
        <p:spPr>
          <a:xfrm xmlns:a="http://schemas.openxmlformats.org/drawingml/2006/main">
            <a:off x="609600" y="64960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0">
                <a:solidFill>
                  <a:srgbClr val="52606D"/>
                </a:solidFill>
              </a:defRPr>
            </a:defPPr>
          </a:lstStyle>
          <a:p xmlns:a="http://schemas.openxmlformats.org/drawingml/2006/main">
            <a:pPr>
              <a:defRPr sz="750" b="0">
                <a:solidFill>
                  <a:srgbClr val="52606D"/>
                </a:solidFill>
              </a:defRPr>
            </a:pPr>
            <a:r>
              <a:rPr sz="750" b="0">
                <a:solidFill>
                  <a:srgbClr val="52606D"/>
                </a:solidFill>
              </a:rPr>
              <a:t>Employee 360 Data Quality | Anthony Grant Apollis</a:t>
            </a:r>
          </a:p>
        </p:txBody>
      </p:sp>
      <p:sp>
        <p:nvSpPr>
          <p:cNvPr id="5" name="">
            <a:extLst xmlns:a="http://schemas.openxmlformats.org/drawingml/2006/main">
              <a:ext uri="{FF2B5EF4-FFF2-40B4-BE49-F238E27FC236}">
                <a16:creationId xmlns:a16="http://schemas.microsoft.com/office/drawing/2014/main" id="{C26932C8-F965-4054-B53D-A63A57B970D0}"/>
              </a:ext>
            </a:extLst>
          </p:cNvPr>
          <p:cNvSpPr>
            <a:spLocks xmlns:a="http://schemas.openxmlformats.org/drawingml/2006/main" noGrp="1"/>
          </p:cNvSpPr>
          <p:nvPr/>
        </p:nvSpPr>
        <p:spPr>
          <a:xfrm xmlns:a="http://schemas.openxmlformats.org/drawingml/2006/main">
            <a:off x="10858500" y="6496050"/>
            <a:ext cx="723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0">
                <a:solidFill>
                  <a:srgbClr val="52606D"/>
                </a:solidFill>
              </a:defRPr>
            </a:defPPr>
          </a:lstStyle>
          <a:p xmlns:a="http://schemas.openxmlformats.org/drawingml/2006/main">
            <a:pPr>
              <a:defRPr sz="750" b="0">
                <a:solidFill>
                  <a:srgbClr val="52606D"/>
                </a:solidFill>
              </a:defRPr>
            </a:pPr>
            <a:r>
              <a:rPr sz="750" b="0">
                <a:solidFill>
                  <a:srgbClr val="52606D"/>
                </a:solidFill>
              </a:rPr>
              <a:t>5 / 8</a:t>
            </a:r>
          </a:p>
        </p:txBody>
      </p:sp>
      <p:pic>
        <p:nvPicPr>
          <p:cNvPr id="6" name="">
            <a:extLst xmlns:a="http://schemas.openxmlformats.org/drawingml/2006/main">
              <a:ext uri="{FF2B5EF4-FFF2-40B4-BE49-F238E27FC236}">
                <a16:creationId xmlns:a16="http://schemas.microsoft.com/office/drawing/2014/main" id="{0A39DD24-6527-4F80-956C-8776F065B7C4}"/>
              </a:ext>
            </a:extLst>
          </p:cNvPr>
          <p:cNvPicPr>
            <a:picLocks xmlns:a="http://schemas.openxmlformats.org/drawingml/2006/main" noChangeAspect="1"/>
          </p:cNvPicPr>
          <p:nvPr/>
        </p:nvPicPr>
        <p:blipFill>
          <a:blip xmlns:r="http://schemas.openxmlformats.org/officeDocument/2006/relationships" xmlns:a="http://schemas.openxmlformats.org/drawingml/2006/main" r:embed="R29590428e0104319"/>
          <a:stretch xmlns:a="http://schemas.openxmlformats.org/drawingml/2006/main"/>
        </p:blipFill>
        <p:spPr>
          <a:xfrm xmlns:a="http://schemas.openxmlformats.org/drawingml/2006/main">
            <a:off x="609600" y="2017410"/>
            <a:ext cx="6000750" cy="284222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D2CAAE1-4482-4C9A-B866-5B4E0C5CCA3A}"/>
              </a:ext>
            </a:extLst>
          </p:cNvPr>
          <p:cNvSpPr>
            <a:spLocks xmlns:a="http://schemas.openxmlformats.org/drawingml/2006/main" noGrp="1"/>
          </p:cNvSpPr>
          <p:nvPr/>
        </p:nvSpPr>
        <p:spPr>
          <a:xfrm xmlns:a="http://schemas.openxmlformats.org/drawingml/2006/main">
            <a:off x="7239000" y="17335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27B76"/>
                </a:solidFill>
              </a:defRPr>
            </a:defPPr>
          </a:lstStyle>
          <a:p xmlns:a="http://schemas.openxmlformats.org/drawingml/2006/main">
            <a:pPr>
              <a:defRPr sz="1650" b="1">
                <a:solidFill>
                  <a:srgbClr val="127B76"/>
                </a:solidFill>
              </a:defRPr>
            </a:pPr>
            <a:r>
              <a:rPr sz="1650" b="1">
                <a:solidFill>
                  <a:srgbClr val="127B76"/>
                </a:solidFill>
              </a:rPr>
              <a:t>Run 1</a:t>
            </a:r>
          </a:p>
        </p:txBody>
      </p:sp>
      <p:sp>
        <p:nvSpPr>
          <p:cNvPr id="8" name="">
            <a:extLst xmlns:a="http://schemas.openxmlformats.org/drawingml/2006/main">
              <a:ext uri="{FF2B5EF4-FFF2-40B4-BE49-F238E27FC236}">
                <a16:creationId xmlns:a16="http://schemas.microsoft.com/office/drawing/2014/main" id="{23653FA6-6541-45F8-BCE6-F147A9AD87F8}"/>
              </a:ext>
            </a:extLst>
          </p:cNvPr>
          <p:cNvSpPr>
            <a:spLocks xmlns:a="http://schemas.openxmlformats.org/drawingml/2006/main" noGrp="1"/>
          </p:cNvSpPr>
          <p:nvPr/>
        </p:nvSpPr>
        <p:spPr>
          <a:xfrm xmlns:a="http://schemas.openxmlformats.org/drawingml/2006/main">
            <a:off x="7239000" y="2066925"/>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243B53"/>
                </a:solidFill>
              </a:defRPr>
            </a:defPPr>
          </a:lstStyle>
          <a:p xmlns:a="http://schemas.openxmlformats.org/drawingml/2006/main">
            <a:pPr>
              <a:defRPr sz="1275" b="0">
                <a:solidFill>
                  <a:srgbClr val="243B53"/>
                </a:solidFill>
              </a:defRPr>
            </a:pPr>
            <a:r>
              <a:rPr sz="1275" b="0">
                <a:solidFill>
                  <a:srgbClr val="243B53"/>
                </a:solidFill>
              </a:rPr>
              <a:t>Supplied data full load. The pipeline detects the original issues.</a:t>
            </a:r>
          </a:p>
        </p:txBody>
      </p:sp>
      <p:sp>
        <p:nvSpPr>
          <p:cNvPr id="9" name="">
            <a:extLst xmlns:a="http://schemas.openxmlformats.org/drawingml/2006/main">
              <a:ext uri="{FF2B5EF4-FFF2-40B4-BE49-F238E27FC236}">
                <a16:creationId xmlns:a16="http://schemas.microsoft.com/office/drawing/2014/main" id="{A992F53E-A7B8-469C-B957-EC67971CFD32}"/>
              </a:ext>
            </a:extLst>
          </p:cNvPr>
          <p:cNvSpPr>
            <a:spLocks xmlns:a="http://schemas.openxmlformats.org/drawingml/2006/main" noGrp="1"/>
          </p:cNvSpPr>
          <p:nvPr/>
        </p:nvSpPr>
        <p:spPr>
          <a:xfrm xmlns:a="http://schemas.openxmlformats.org/drawingml/2006/main">
            <a:off x="7239000" y="2809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27B76"/>
                </a:solidFill>
              </a:defRPr>
            </a:defPPr>
          </a:lstStyle>
          <a:p xmlns:a="http://schemas.openxmlformats.org/drawingml/2006/main">
            <a:pPr>
              <a:defRPr sz="1650" b="1">
                <a:solidFill>
                  <a:srgbClr val="127B76"/>
                </a:solidFill>
              </a:defRPr>
            </a:pPr>
            <a:r>
              <a:rPr sz="1650" b="1">
                <a:solidFill>
                  <a:srgbClr val="127B76"/>
                </a:solidFill>
              </a:rPr>
              <a:t>Run 2</a:t>
            </a:r>
          </a:p>
        </p:txBody>
      </p:sp>
      <p:sp>
        <p:nvSpPr>
          <p:cNvPr id="10" name="">
            <a:extLst xmlns:a="http://schemas.openxmlformats.org/drawingml/2006/main">
              <a:ext uri="{FF2B5EF4-FFF2-40B4-BE49-F238E27FC236}">
                <a16:creationId xmlns:a16="http://schemas.microsoft.com/office/drawing/2014/main" id="{2478E8F5-E433-4232-B9B9-F41F009804F5}"/>
              </a:ext>
            </a:extLst>
          </p:cNvPr>
          <p:cNvSpPr>
            <a:spLocks xmlns:a="http://schemas.openxmlformats.org/drawingml/2006/main" noGrp="1"/>
          </p:cNvSpPr>
          <p:nvPr/>
        </p:nvSpPr>
        <p:spPr>
          <a:xfrm xmlns:a="http://schemas.openxmlformats.org/drawingml/2006/main">
            <a:off x="7239000" y="31432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243B53"/>
                </a:solidFill>
              </a:defRPr>
            </a:defPPr>
          </a:lstStyle>
          <a:p xmlns:a="http://schemas.openxmlformats.org/drawingml/2006/main">
            <a:pPr>
              <a:defRPr sz="1275" b="0">
                <a:solidFill>
                  <a:srgbClr val="243B53"/>
                </a:solidFill>
              </a:defRPr>
            </a:pPr>
            <a:r>
              <a:rPr sz="1275" b="0">
                <a:solidFill>
                  <a:srgbClr val="243B53"/>
                </a:solidFill>
              </a:rPr>
              <a:t>Same files. Hashes match, so the loader skips them and avoids duplicates.</a:t>
            </a:r>
          </a:p>
        </p:txBody>
      </p:sp>
      <p:sp>
        <p:nvSpPr>
          <p:cNvPr id="11" name="">
            <a:extLst xmlns:a="http://schemas.openxmlformats.org/drawingml/2006/main">
              <a:ext uri="{FF2B5EF4-FFF2-40B4-BE49-F238E27FC236}">
                <a16:creationId xmlns:a16="http://schemas.microsoft.com/office/drawing/2014/main" id="{2900D516-B9F9-4F19-B00F-E5B1312F2EB6}"/>
              </a:ext>
            </a:extLst>
          </p:cNvPr>
          <p:cNvSpPr>
            <a:spLocks xmlns:a="http://schemas.openxmlformats.org/drawingml/2006/main" noGrp="1"/>
          </p:cNvSpPr>
          <p:nvPr/>
        </p:nvSpPr>
        <p:spPr>
          <a:xfrm xmlns:a="http://schemas.openxmlformats.org/drawingml/2006/main">
            <a:off x="7239000" y="38862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B85C00"/>
                </a:solidFill>
              </a:defRPr>
            </a:defPPr>
          </a:lstStyle>
          <a:p xmlns:a="http://schemas.openxmlformats.org/drawingml/2006/main">
            <a:pPr>
              <a:defRPr sz="1650" b="1">
                <a:solidFill>
                  <a:srgbClr val="B85C00"/>
                </a:solidFill>
              </a:defRPr>
            </a:pPr>
            <a:r>
              <a:rPr sz="1650" b="1">
                <a:solidFill>
                  <a:srgbClr val="B85C00"/>
                </a:solidFill>
              </a:rPr>
              <a:t>Run 3</a:t>
            </a:r>
          </a:p>
        </p:txBody>
      </p:sp>
      <p:sp>
        <p:nvSpPr>
          <p:cNvPr id="12" name="">
            <a:extLst xmlns:a="http://schemas.openxmlformats.org/drawingml/2006/main">
              <a:ext uri="{FF2B5EF4-FFF2-40B4-BE49-F238E27FC236}">
                <a16:creationId xmlns:a16="http://schemas.microsoft.com/office/drawing/2014/main" id="{AAAF471A-F2D6-4AF0-A8BC-55B9315EEF9C}"/>
              </a:ext>
            </a:extLst>
          </p:cNvPr>
          <p:cNvSpPr>
            <a:spLocks xmlns:a="http://schemas.openxmlformats.org/drawingml/2006/main" noGrp="1"/>
          </p:cNvSpPr>
          <p:nvPr/>
        </p:nvSpPr>
        <p:spPr>
          <a:xfrm xmlns:a="http://schemas.openxmlformats.org/drawingml/2006/main">
            <a:off x="7239000" y="4219575"/>
            <a:ext cx="3810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243B53"/>
                </a:solidFill>
              </a:defRPr>
            </a:defPPr>
          </a:lstStyle>
          <a:p xmlns:a="http://schemas.openxmlformats.org/drawingml/2006/main">
            <a:pPr>
              <a:defRPr sz="1275" b="0">
                <a:solidFill>
                  <a:srgbClr val="243B53"/>
                </a:solidFill>
              </a:defRPr>
            </a:pPr>
            <a:r>
              <a:rPr sz="1275" b="0">
                <a:solidFill>
                  <a:srgbClr val="243B53"/>
                </a:solidFill>
              </a:rPr>
              <a:t>A separate simulated delivery tests changes: 8 resolved, 2 new, 11 still open.</a:t>
            </a:r>
          </a:p>
        </p:txBody>
      </p:sp>
      <p:sp>
        <p:nvSpPr>
          <p:cNvPr id="13" name="">
            <a:extLst xmlns:a="http://schemas.openxmlformats.org/drawingml/2006/main">
              <a:ext uri="{FF2B5EF4-FFF2-40B4-BE49-F238E27FC236}">
                <a16:creationId xmlns:a16="http://schemas.microsoft.com/office/drawing/2014/main" id="{11E6A7A5-F73B-42BC-912D-98957CDD2F7C}"/>
              </a:ext>
            </a:extLst>
          </p:cNvPr>
          <p:cNvSpPr>
            <a:spLocks xmlns:a="http://schemas.openxmlformats.org/drawingml/2006/main" noGrp="1"/>
          </p:cNvSpPr>
          <p:nvPr/>
        </p:nvSpPr>
        <p:spPr>
          <a:xfrm xmlns:a="http://schemas.openxmlformats.org/drawingml/2006/main">
            <a:off x="609600" y="5562600"/>
            <a:ext cx="1019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1">
                <a:solidFill>
                  <a:srgbClr val="102A43"/>
                </a:solidFill>
              </a:defRPr>
            </a:defPPr>
          </a:lstStyle>
          <a:p xmlns:a="http://schemas.openxmlformats.org/drawingml/2006/main">
            <a:pPr>
              <a:defRPr sz="1350" b="1">
                <a:solidFill>
                  <a:srgbClr val="102A43"/>
                </a:solidFill>
              </a:defRPr>
            </a:pPr>
            <a:r>
              <a:rPr sz="1350" b="1">
                <a:solidFill>
                  <a:srgbClr val="102A43"/>
                </a:solidFill>
              </a:rPr>
              <a:t>Resolved on Run 3 means the simulated test data no longer triggers the rule. It does not claim the original files were fixed.</a:t>
            </a:r>
          </a:p>
        </p:txBody>
      </p:sp>
    </p:spTree>
    <p:extLst>
      <p:ext uri="{BB962C8B-B14F-4D97-AF65-F5344CB8AC3E}">
        <p14:creationId xmlns:p14="http://schemas.microsoft.com/office/powerpoint/2010/main" val="8733628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7D371C7-3057-4750-B076-B51398F7A5C4}"/>
              </a:ext>
            </a:extLst>
          </p:cNvPr>
          <p:cNvSpPr>
            <a:spLocks xmlns:a="http://schemas.openxmlformats.org/drawingml/2006/main" noGrp="1"/>
          </p:cNvSpPr>
          <p:nvPr/>
        </p:nvSpPr>
        <p:spPr>
          <a:xfrm xmlns:a="http://schemas.openxmlformats.org/drawingml/2006/main">
            <a:off x="609600" y="45720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102A43"/>
                </a:solidFill>
              </a:defRPr>
            </a:defPPr>
          </a:lstStyle>
          <a:p xmlns:a="http://schemas.openxmlformats.org/drawingml/2006/main">
            <a:pPr>
              <a:defRPr sz="2400" b="1">
                <a:solidFill>
                  <a:srgbClr val="102A43"/>
                </a:solidFill>
              </a:defRPr>
            </a:pPr>
            <a:r>
              <a:rPr sz="2400" b="1">
                <a:solidFill>
                  <a:srgbClr val="102A43"/>
                </a:solidFill>
              </a:rPr>
              <a:t>Monitoring and release gate</a:t>
            </a:r>
          </a:p>
        </p:txBody>
      </p:sp>
      <p:sp>
        <p:nvSpPr>
          <p:cNvPr id="2" name="">
            <a:extLst xmlns:a="http://schemas.openxmlformats.org/drawingml/2006/main">
              <a:ext uri="{FF2B5EF4-FFF2-40B4-BE49-F238E27FC236}">
                <a16:creationId xmlns:a16="http://schemas.microsoft.com/office/drawing/2014/main" id="{2932F09F-9E73-465B-8D43-B0EFE35E04FF}"/>
              </a:ext>
            </a:extLst>
          </p:cNvPr>
          <p:cNvSpPr>
            <a:spLocks xmlns:a="http://schemas.openxmlformats.org/drawingml/2006/main" noGrp="1"/>
          </p:cNvSpPr>
          <p:nvPr/>
        </p:nvSpPr>
        <p:spPr>
          <a:xfrm xmlns:a="http://schemas.openxmlformats.org/drawingml/2006/main">
            <a:off x="609600" y="942975"/>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2606D"/>
                </a:solidFill>
              </a:defRPr>
            </a:defPPr>
          </a:lstStyle>
          <a:p xmlns:a="http://schemas.openxmlformats.org/drawingml/2006/main">
            <a:pPr>
              <a:defRPr sz="1125" b="0">
                <a:solidFill>
                  <a:srgbClr val="52606D"/>
                </a:solidFill>
              </a:defRPr>
            </a:pPr>
            <a:r>
              <a:rPr sz="1125" b="0">
                <a:solidFill>
                  <a:srgbClr val="52606D"/>
                </a:solidFill>
              </a:rPr>
              <a:t>The dashboard separates data-quality findings from technical job failures.</a:t>
            </a:r>
          </a:p>
        </p:txBody>
      </p:sp>
      <p:sp>
        <p:nvSpPr>
          <p:cNvPr id="3" name="">
            <a:extLst xmlns:a="http://schemas.openxmlformats.org/drawingml/2006/main">
              <a:ext uri="{FF2B5EF4-FFF2-40B4-BE49-F238E27FC236}">
                <a16:creationId xmlns:a16="http://schemas.microsoft.com/office/drawing/2014/main" id="{05F02ED0-D13F-4981-8717-2DBF5197D3D9}"/>
              </a:ext>
            </a:extLst>
          </p:cNvPr>
          <p:cNvSpPr>
            <a:spLocks xmlns:a="http://schemas.openxmlformats.org/drawingml/2006/main" noGrp="1"/>
          </p:cNvSpPr>
          <p:nvPr/>
        </p:nvSpPr>
        <p:spPr>
          <a:xfrm xmlns:a="http://schemas.openxmlformats.org/drawingml/2006/main">
            <a:off x="609600" y="1304925"/>
            <a:ext cx="10953750" cy="38100"/>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4" name="">
            <a:extLst xmlns:a="http://schemas.openxmlformats.org/drawingml/2006/main">
              <a:ext uri="{FF2B5EF4-FFF2-40B4-BE49-F238E27FC236}">
                <a16:creationId xmlns:a16="http://schemas.microsoft.com/office/drawing/2014/main" id="{5677844B-610B-4C40-A7E7-C6FDAE33CCBF}"/>
              </a:ext>
            </a:extLst>
          </p:cNvPr>
          <p:cNvSpPr>
            <a:spLocks xmlns:a="http://schemas.openxmlformats.org/drawingml/2006/main" noGrp="1"/>
          </p:cNvSpPr>
          <p:nvPr/>
        </p:nvSpPr>
        <p:spPr>
          <a:xfrm xmlns:a="http://schemas.openxmlformats.org/drawingml/2006/main">
            <a:off x="609600" y="64960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0">
                <a:solidFill>
                  <a:srgbClr val="52606D"/>
                </a:solidFill>
              </a:defRPr>
            </a:defPPr>
          </a:lstStyle>
          <a:p xmlns:a="http://schemas.openxmlformats.org/drawingml/2006/main">
            <a:pPr>
              <a:defRPr sz="750" b="0">
                <a:solidFill>
                  <a:srgbClr val="52606D"/>
                </a:solidFill>
              </a:defRPr>
            </a:pPr>
            <a:r>
              <a:rPr sz="750" b="0">
                <a:solidFill>
                  <a:srgbClr val="52606D"/>
                </a:solidFill>
              </a:rPr>
              <a:t>Employee 360 Data Quality | Anthony Grant Apollis</a:t>
            </a:r>
          </a:p>
        </p:txBody>
      </p:sp>
      <p:sp>
        <p:nvSpPr>
          <p:cNvPr id="5" name="">
            <a:extLst xmlns:a="http://schemas.openxmlformats.org/drawingml/2006/main">
              <a:ext uri="{FF2B5EF4-FFF2-40B4-BE49-F238E27FC236}">
                <a16:creationId xmlns:a16="http://schemas.microsoft.com/office/drawing/2014/main" id="{071BB73C-1F7E-452C-89E8-2AF202826F41}"/>
              </a:ext>
            </a:extLst>
          </p:cNvPr>
          <p:cNvSpPr>
            <a:spLocks xmlns:a="http://schemas.openxmlformats.org/drawingml/2006/main" noGrp="1"/>
          </p:cNvSpPr>
          <p:nvPr/>
        </p:nvSpPr>
        <p:spPr>
          <a:xfrm xmlns:a="http://schemas.openxmlformats.org/drawingml/2006/main">
            <a:off x="10858500" y="6496050"/>
            <a:ext cx="723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0">
                <a:solidFill>
                  <a:srgbClr val="52606D"/>
                </a:solidFill>
              </a:defRPr>
            </a:defPPr>
          </a:lstStyle>
          <a:p xmlns:a="http://schemas.openxmlformats.org/drawingml/2006/main">
            <a:pPr>
              <a:defRPr sz="750" b="0">
                <a:solidFill>
                  <a:srgbClr val="52606D"/>
                </a:solidFill>
              </a:defRPr>
            </a:pPr>
            <a:r>
              <a:rPr sz="750" b="0">
                <a:solidFill>
                  <a:srgbClr val="52606D"/>
                </a:solidFill>
              </a:rPr>
              <a:t>6 / 8</a:t>
            </a:r>
          </a:p>
        </p:txBody>
      </p:sp>
      <p:pic>
        <p:nvPicPr>
          <p:cNvPr id="6" name="">
            <a:extLst xmlns:a="http://schemas.openxmlformats.org/drawingml/2006/main">
              <a:ext uri="{FF2B5EF4-FFF2-40B4-BE49-F238E27FC236}">
                <a16:creationId xmlns:a16="http://schemas.microsoft.com/office/drawing/2014/main" id="{8EBD0423-E0F0-41C2-BE9E-F35AB7900134}"/>
              </a:ext>
            </a:extLst>
          </p:cNvPr>
          <p:cNvPicPr>
            <a:picLocks xmlns:a="http://schemas.openxmlformats.org/drawingml/2006/main" noChangeAspect="1"/>
          </p:cNvPicPr>
          <p:nvPr/>
        </p:nvPicPr>
        <p:blipFill>
          <a:blip xmlns:r="http://schemas.openxmlformats.org/officeDocument/2006/relationships" xmlns:a="http://schemas.openxmlformats.org/drawingml/2006/main" r:embed="Rd8658fd1e9a34fde"/>
          <a:stretch xmlns:a="http://schemas.openxmlformats.org/drawingml/2006/main"/>
        </p:blipFill>
        <p:spPr>
          <a:xfrm xmlns:a="http://schemas.openxmlformats.org/drawingml/2006/main">
            <a:off x="609600" y="1918911"/>
            <a:ext cx="6477000" cy="306780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183A5DF-C0AC-4CF4-8093-51A20DADD3F7}"/>
              </a:ext>
            </a:extLst>
          </p:cNvPr>
          <p:cNvSpPr>
            <a:spLocks xmlns:a="http://schemas.openxmlformats.org/drawingml/2006/main" noGrp="1"/>
          </p:cNvSpPr>
          <p:nvPr/>
        </p:nvSpPr>
        <p:spPr>
          <a:xfrm xmlns:a="http://schemas.openxmlformats.org/drawingml/2006/main">
            <a:off x="7677150" y="1733550"/>
            <a:ext cx="3095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A43"/>
                </a:solidFill>
              </a:defRPr>
            </a:defPPr>
          </a:lstStyle>
          <a:p xmlns:a="http://schemas.openxmlformats.org/drawingml/2006/main">
            <a:pPr>
              <a:defRPr sz="1650" b="1">
                <a:solidFill>
                  <a:srgbClr val="102A43"/>
                </a:solidFill>
              </a:defRPr>
            </a:pPr>
            <a:r>
              <a:rPr sz="1650" b="1">
                <a:solidFill>
                  <a:srgbClr val="102A43"/>
                </a:solidFill>
              </a:rPr>
              <a:t>Release action</a:t>
            </a:r>
          </a:p>
        </p:txBody>
      </p:sp>
      <p:sp>
        <p:nvSpPr>
          <p:cNvPr id="8" name="">
            <a:extLst xmlns:a="http://schemas.openxmlformats.org/drawingml/2006/main">
              <a:ext uri="{FF2B5EF4-FFF2-40B4-BE49-F238E27FC236}">
                <a16:creationId xmlns:a16="http://schemas.microsoft.com/office/drawing/2014/main" id="{8CF1DC8A-66FB-4D23-B948-7AAA12A49BF5}"/>
              </a:ext>
            </a:extLst>
          </p:cNvPr>
          <p:cNvSpPr>
            <a:spLocks xmlns:a="http://schemas.openxmlformats.org/drawingml/2006/main" noGrp="1"/>
          </p:cNvSpPr>
          <p:nvPr/>
        </p:nvSpPr>
        <p:spPr>
          <a:xfrm xmlns:a="http://schemas.openxmlformats.org/drawingml/2006/main">
            <a:off x="7677150" y="2305050"/>
            <a:ext cx="85725" cy="85725"/>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9" name="">
            <a:extLst xmlns:a="http://schemas.openxmlformats.org/drawingml/2006/main">
              <a:ext uri="{FF2B5EF4-FFF2-40B4-BE49-F238E27FC236}">
                <a16:creationId xmlns:a16="http://schemas.microsoft.com/office/drawing/2014/main" id="{51A2BA0E-D908-4C6C-A71A-646C5BF88313}"/>
              </a:ext>
            </a:extLst>
          </p:cNvPr>
          <p:cNvSpPr>
            <a:spLocks xmlns:a="http://schemas.openxmlformats.org/drawingml/2006/main" noGrp="1"/>
          </p:cNvSpPr>
          <p:nvPr/>
        </p:nvSpPr>
        <p:spPr>
          <a:xfrm xmlns:a="http://schemas.openxmlformats.org/drawingml/2006/main">
            <a:off x="7886700" y="2209800"/>
            <a:ext cx="3124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243B53"/>
                </a:solidFill>
              </a:defRPr>
            </a:defPPr>
          </a:lstStyle>
          <a:p xmlns:a="http://schemas.openxmlformats.org/drawingml/2006/main">
            <a:pPr>
              <a:defRPr sz="1275" b="0">
                <a:solidFill>
                  <a:srgbClr val="243B53"/>
                </a:solidFill>
              </a:defRPr>
            </a:pPr>
            <a:r>
              <a:rPr sz="1275" b="0">
                <a:solidFill>
                  <a:srgbClr val="243B53"/>
                </a:solidFill>
              </a:rPr>
              <a:t>Block release for critical source and reconciliation errors</a:t>
            </a:r>
          </a:p>
        </p:txBody>
      </p:sp>
      <p:sp>
        <p:nvSpPr>
          <p:cNvPr id="10" name="">
            <a:extLst xmlns:a="http://schemas.openxmlformats.org/drawingml/2006/main">
              <a:ext uri="{FF2B5EF4-FFF2-40B4-BE49-F238E27FC236}">
                <a16:creationId xmlns:a16="http://schemas.microsoft.com/office/drawing/2014/main" id="{599C6E48-D7EA-4471-AF20-CA055CBD6B98}"/>
              </a:ext>
            </a:extLst>
          </p:cNvPr>
          <p:cNvSpPr>
            <a:spLocks xmlns:a="http://schemas.openxmlformats.org/drawingml/2006/main" noGrp="1"/>
          </p:cNvSpPr>
          <p:nvPr/>
        </p:nvSpPr>
        <p:spPr>
          <a:xfrm xmlns:a="http://schemas.openxmlformats.org/drawingml/2006/main">
            <a:off x="7677150" y="3000375"/>
            <a:ext cx="85725" cy="85725"/>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11" name="">
            <a:extLst xmlns:a="http://schemas.openxmlformats.org/drawingml/2006/main">
              <a:ext uri="{FF2B5EF4-FFF2-40B4-BE49-F238E27FC236}">
                <a16:creationId xmlns:a16="http://schemas.microsoft.com/office/drawing/2014/main" id="{6626DF64-353B-4132-BCDA-A1016EA7F2AF}"/>
              </a:ext>
            </a:extLst>
          </p:cNvPr>
          <p:cNvSpPr>
            <a:spLocks xmlns:a="http://schemas.openxmlformats.org/drawingml/2006/main" noGrp="1"/>
          </p:cNvSpPr>
          <p:nvPr/>
        </p:nvSpPr>
        <p:spPr>
          <a:xfrm xmlns:a="http://schemas.openxmlformats.org/drawingml/2006/main">
            <a:off x="7886700" y="2905125"/>
            <a:ext cx="3124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243B53"/>
                </a:solidFill>
              </a:defRPr>
            </a:defPPr>
          </a:lstStyle>
          <a:p xmlns:a="http://schemas.openxmlformats.org/drawingml/2006/main">
            <a:pPr>
              <a:defRPr sz="1275" b="0">
                <a:solidFill>
                  <a:srgbClr val="243B53"/>
                </a:solidFill>
              </a:defRPr>
            </a:pPr>
            <a:r>
              <a:rPr sz="1275" b="0">
                <a:solidFill>
                  <a:srgbClr val="243B53"/>
                </a:solidFill>
              </a:rPr>
              <a:t>Alert now for high-severity operational risks</a:t>
            </a:r>
          </a:p>
        </p:txBody>
      </p:sp>
      <p:sp>
        <p:nvSpPr>
          <p:cNvPr id="12" name="">
            <a:extLst xmlns:a="http://schemas.openxmlformats.org/drawingml/2006/main">
              <a:ext uri="{FF2B5EF4-FFF2-40B4-BE49-F238E27FC236}">
                <a16:creationId xmlns:a16="http://schemas.microsoft.com/office/drawing/2014/main" id="{C2371AB7-D386-4207-B1E4-36C3F8770C43}"/>
              </a:ext>
            </a:extLst>
          </p:cNvPr>
          <p:cNvSpPr>
            <a:spLocks xmlns:a="http://schemas.openxmlformats.org/drawingml/2006/main" noGrp="1"/>
          </p:cNvSpPr>
          <p:nvPr/>
        </p:nvSpPr>
        <p:spPr>
          <a:xfrm xmlns:a="http://schemas.openxmlformats.org/drawingml/2006/main">
            <a:off x="7677150" y="3695700"/>
            <a:ext cx="85725" cy="85725"/>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13" name="">
            <a:extLst xmlns:a="http://schemas.openxmlformats.org/drawingml/2006/main">
              <a:ext uri="{FF2B5EF4-FFF2-40B4-BE49-F238E27FC236}">
                <a16:creationId xmlns:a16="http://schemas.microsoft.com/office/drawing/2014/main" id="{3230AFBB-1362-4979-B316-CD60C471175D}"/>
              </a:ext>
            </a:extLst>
          </p:cNvPr>
          <p:cNvSpPr>
            <a:spLocks xmlns:a="http://schemas.openxmlformats.org/drawingml/2006/main" noGrp="1"/>
          </p:cNvSpPr>
          <p:nvPr/>
        </p:nvSpPr>
        <p:spPr>
          <a:xfrm xmlns:a="http://schemas.openxmlformats.org/drawingml/2006/main">
            <a:off x="7886700" y="3600450"/>
            <a:ext cx="3124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243B53"/>
                </a:solidFill>
              </a:defRPr>
            </a:defPPr>
          </a:lstStyle>
          <a:p xmlns:a="http://schemas.openxmlformats.org/drawingml/2006/main">
            <a:pPr>
              <a:defRPr sz="1275" b="0">
                <a:solidFill>
                  <a:srgbClr val="243B53"/>
                </a:solidFill>
              </a:defRPr>
            </a:pPr>
            <a:r>
              <a:rPr sz="1275" b="0">
                <a:solidFill>
                  <a:srgbClr val="243B53"/>
                </a:solidFill>
              </a:rPr>
              <a:t>Monitor lower-severity conditions and trend them over time</a:t>
            </a:r>
          </a:p>
        </p:txBody>
      </p:sp>
      <p:sp>
        <p:nvSpPr>
          <p:cNvPr id="14" name="">
            <a:extLst xmlns:a="http://schemas.openxmlformats.org/drawingml/2006/main">
              <a:ext uri="{FF2B5EF4-FFF2-40B4-BE49-F238E27FC236}">
                <a16:creationId xmlns:a16="http://schemas.microsoft.com/office/drawing/2014/main" id="{C7BC57D0-C7D3-4B2D-B8C1-1A52F55BFCE1}"/>
              </a:ext>
            </a:extLst>
          </p:cNvPr>
          <p:cNvSpPr>
            <a:spLocks xmlns:a="http://schemas.openxmlformats.org/drawingml/2006/main" noGrp="1"/>
          </p:cNvSpPr>
          <p:nvPr/>
        </p:nvSpPr>
        <p:spPr>
          <a:xfrm xmlns:a="http://schemas.openxmlformats.org/drawingml/2006/main">
            <a:off x="7677150" y="46672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52606D"/>
                </a:solidFill>
              </a:defRPr>
            </a:defPPr>
          </a:lstStyle>
          <a:p xmlns:a="http://schemas.openxmlformats.org/drawingml/2006/main">
            <a:pPr>
              <a:defRPr sz="1275" b="1">
                <a:solidFill>
                  <a:srgbClr val="52606D"/>
                </a:solidFill>
              </a:defRPr>
            </a:pPr>
            <a:r>
              <a:rPr sz="1275" b="1">
                <a:solidFill>
                  <a:srgbClr val="52606D"/>
                </a:solidFill>
              </a:rPr>
              <a:t>Operational failure</a:t>
            </a:r>
          </a:p>
        </p:txBody>
      </p:sp>
      <p:sp>
        <p:nvSpPr>
          <p:cNvPr id="15" name="">
            <a:extLst xmlns:a="http://schemas.openxmlformats.org/drawingml/2006/main">
              <a:ext uri="{FF2B5EF4-FFF2-40B4-BE49-F238E27FC236}">
                <a16:creationId xmlns:a16="http://schemas.microsoft.com/office/drawing/2014/main" id="{890BC647-3222-47F8-9675-09DA3C9F20ED}"/>
              </a:ext>
            </a:extLst>
          </p:cNvPr>
          <p:cNvSpPr>
            <a:spLocks xmlns:a="http://schemas.openxmlformats.org/drawingml/2006/main" noGrp="1"/>
          </p:cNvSpPr>
          <p:nvPr/>
        </p:nvSpPr>
        <p:spPr>
          <a:xfrm xmlns:a="http://schemas.openxmlformats.org/drawingml/2006/main">
            <a:off x="7677150" y="4933950"/>
            <a:ext cx="304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43B53"/>
                </a:solidFill>
              </a:defRPr>
            </a:defPPr>
          </a:lstStyle>
          <a:p xmlns:a="http://schemas.openxmlformats.org/drawingml/2006/main">
            <a:pPr>
              <a:defRPr sz="1200" b="0">
                <a:solidFill>
                  <a:srgbClr val="243B53"/>
                </a:solidFill>
              </a:defRPr>
            </a:pPr>
            <a:r>
              <a:rPr sz="1200" b="0">
                <a:solidFill>
                  <a:srgbClr val="243B53"/>
                </a:solidFill>
              </a:rPr>
              <a:t>A job error means engineering must restore the run.</a:t>
            </a:r>
          </a:p>
        </p:txBody>
      </p:sp>
      <p:sp>
        <p:nvSpPr>
          <p:cNvPr id="16" name="">
            <a:extLst xmlns:a="http://schemas.openxmlformats.org/drawingml/2006/main">
              <a:ext uri="{FF2B5EF4-FFF2-40B4-BE49-F238E27FC236}">
                <a16:creationId xmlns:a16="http://schemas.microsoft.com/office/drawing/2014/main" id="{31806782-82D3-4923-82CF-E9559FF464F4}"/>
              </a:ext>
            </a:extLst>
          </p:cNvPr>
          <p:cNvSpPr>
            <a:spLocks xmlns:a="http://schemas.openxmlformats.org/drawingml/2006/main" noGrp="1"/>
          </p:cNvSpPr>
          <p:nvPr/>
        </p:nvSpPr>
        <p:spPr>
          <a:xfrm xmlns:a="http://schemas.openxmlformats.org/drawingml/2006/main">
            <a:off x="7677150" y="551497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52606D"/>
                </a:solidFill>
              </a:defRPr>
            </a:defPPr>
          </a:lstStyle>
          <a:p xmlns:a="http://schemas.openxmlformats.org/drawingml/2006/main">
            <a:pPr>
              <a:defRPr sz="1275" b="1">
                <a:solidFill>
                  <a:srgbClr val="52606D"/>
                </a:solidFill>
              </a:defRPr>
            </a:pPr>
            <a:r>
              <a:rPr sz="1275" b="1">
                <a:solidFill>
                  <a:srgbClr val="52606D"/>
                </a:solidFill>
              </a:rPr>
              <a:t>Data-quality failure</a:t>
            </a:r>
          </a:p>
        </p:txBody>
      </p:sp>
      <p:sp>
        <p:nvSpPr>
          <p:cNvPr id="17" name="">
            <a:extLst xmlns:a="http://schemas.openxmlformats.org/drawingml/2006/main">
              <a:ext uri="{FF2B5EF4-FFF2-40B4-BE49-F238E27FC236}">
                <a16:creationId xmlns:a16="http://schemas.microsoft.com/office/drawing/2014/main" id="{22E74C8F-79B8-4172-AD13-24AE4C8C4E5A}"/>
              </a:ext>
            </a:extLst>
          </p:cNvPr>
          <p:cNvSpPr>
            <a:spLocks xmlns:a="http://schemas.openxmlformats.org/drawingml/2006/main" noGrp="1"/>
          </p:cNvSpPr>
          <p:nvPr/>
        </p:nvSpPr>
        <p:spPr>
          <a:xfrm xmlns:a="http://schemas.openxmlformats.org/drawingml/2006/main">
            <a:off x="7677150" y="578167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243B53"/>
                </a:solidFill>
              </a:defRPr>
            </a:defPPr>
          </a:lstStyle>
          <a:p xmlns:a="http://schemas.openxmlformats.org/drawingml/2006/main">
            <a:pPr>
              <a:defRPr sz="1200" b="0">
                <a:solidFill>
                  <a:srgbClr val="243B53"/>
                </a:solidFill>
              </a:defRPr>
            </a:pPr>
            <a:r>
              <a:rPr sz="1200" b="0">
                <a:solidFill>
                  <a:srgbClr val="243B53"/>
                </a:solidFill>
              </a:rPr>
              <a:t>A successful job can correctly report failed source-data controls.</a:t>
            </a:r>
          </a:p>
        </p:txBody>
      </p:sp>
    </p:spTree>
    <p:extLst>
      <p:ext uri="{BB962C8B-B14F-4D97-AF65-F5344CB8AC3E}">
        <p14:creationId xmlns:p14="http://schemas.microsoft.com/office/powerpoint/2010/main" val="774767573"/>
      </p:ext>
    </p:extLst>
  </p:cSld>
</p:sld>
</file>

<file path=ppt/slides/slide7.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3943539-925C-4A16-BF73-BFF9478782D9}"/>
              </a:ext>
            </a:extLst>
          </p:cNvPr>
          <p:cNvSpPr>
            <a:spLocks xmlns:a="http://schemas.openxmlformats.org/drawingml/2006/main" noGrp="1"/>
          </p:cNvSpPr>
          <p:nvPr/>
        </p:nvSpPr>
        <p:spPr>
          <a:xfrm xmlns:a="http://schemas.openxmlformats.org/drawingml/2006/main">
            <a:off x="609600" y="45720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400" b="1">
                <a:solidFill>
                  <a:srgbClr val="102A43"/>
                </a:solidFill>
              </a:defRPr>
            </a:defPPr>
          </a:lstStyle>
          <a:p xmlns:a="http://schemas.openxmlformats.org/drawingml/2006/main">
            <a:pPr>
              <a:defRPr sz="2400" b="1">
                <a:solidFill>
                  <a:srgbClr val="102A43"/>
                </a:solidFill>
              </a:defRPr>
            </a:pPr>
            <a:r>
              <a:rPr sz="2400" b="1">
                <a:solidFill>
                  <a:srgbClr val="102A43"/>
                </a:solidFill>
              </a:rPr>
              <a:t>Delivery architecture, governance and dbt</a:t>
            </a:r>
          </a:p>
        </p:txBody>
      </p:sp>
      <p:sp>
        <p:nvSpPr>
          <p:cNvPr id="2" name="">
            <a:extLst xmlns:a="http://schemas.openxmlformats.org/drawingml/2006/main">
              <a:ext uri="{FF2B5EF4-FFF2-40B4-BE49-F238E27FC236}">
                <a16:creationId xmlns:a16="http://schemas.microsoft.com/office/drawing/2014/main" id="{D69E4194-9B09-45AD-BBC2-491EBCE18669}"/>
              </a:ext>
            </a:extLst>
          </p:cNvPr>
          <p:cNvSpPr>
            <a:spLocks xmlns:a="http://schemas.openxmlformats.org/drawingml/2006/main" noGrp="1"/>
          </p:cNvSpPr>
          <p:nvPr/>
        </p:nvSpPr>
        <p:spPr>
          <a:xfrm xmlns:a="http://schemas.openxmlformats.org/drawingml/2006/main">
            <a:off x="609600" y="942975"/>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0">
                <a:solidFill>
                  <a:srgbClr val="52606D"/>
                </a:solidFill>
              </a:defRPr>
            </a:defPPr>
          </a:lstStyle>
          <a:p xmlns:a="http://schemas.openxmlformats.org/drawingml/2006/main">
            <a:pPr>
              <a:defRPr sz="1125" b="0">
                <a:solidFill>
                  <a:srgbClr val="52606D"/>
                </a:solidFill>
              </a:defRPr>
            </a:pPr>
            <a:r>
              <a:rPr sz="1125" b="0">
                <a:solidFill>
                  <a:srgbClr val="52606D"/>
                </a:solidFill>
              </a:rPr>
              <a:t>The implementation keeps ingestion, transformation, controls and evidence traceable.</a:t>
            </a:r>
          </a:p>
        </p:txBody>
      </p:sp>
      <p:sp>
        <p:nvSpPr>
          <p:cNvPr id="3" name="">
            <a:extLst xmlns:a="http://schemas.openxmlformats.org/drawingml/2006/main">
              <a:ext uri="{FF2B5EF4-FFF2-40B4-BE49-F238E27FC236}">
                <a16:creationId xmlns:a16="http://schemas.microsoft.com/office/drawing/2014/main" id="{FAF9BE90-5291-4594-9DC1-960DBBA87470}"/>
              </a:ext>
            </a:extLst>
          </p:cNvPr>
          <p:cNvSpPr>
            <a:spLocks xmlns:a="http://schemas.openxmlformats.org/drawingml/2006/main" noGrp="1"/>
          </p:cNvSpPr>
          <p:nvPr/>
        </p:nvSpPr>
        <p:spPr>
          <a:xfrm xmlns:a="http://schemas.openxmlformats.org/drawingml/2006/main">
            <a:off x="609600" y="1304925"/>
            <a:ext cx="10953750" cy="38100"/>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4" name="">
            <a:extLst xmlns:a="http://schemas.openxmlformats.org/drawingml/2006/main">
              <a:ext uri="{FF2B5EF4-FFF2-40B4-BE49-F238E27FC236}">
                <a16:creationId xmlns:a16="http://schemas.microsoft.com/office/drawing/2014/main" id="{9CCDB505-89DF-4CCB-A6BC-91BF8E3B1DB3}"/>
              </a:ext>
            </a:extLst>
          </p:cNvPr>
          <p:cNvSpPr>
            <a:spLocks xmlns:a="http://schemas.openxmlformats.org/drawingml/2006/main" noGrp="1"/>
          </p:cNvSpPr>
          <p:nvPr/>
        </p:nvSpPr>
        <p:spPr>
          <a:xfrm xmlns:a="http://schemas.openxmlformats.org/drawingml/2006/main">
            <a:off x="609600" y="64960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0">
                <a:solidFill>
                  <a:srgbClr val="52606D"/>
                </a:solidFill>
              </a:defRPr>
            </a:defPPr>
          </a:lstStyle>
          <a:p xmlns:a="http://schemas.openxmlformats.org/drawingml/2006/main">
            <a:pPr>
              <a:defRPr sz="750" b="0">
                <a:solidFill>
                  <a:srgbClr val="52606D"/>
                </a:solidFill>
              </a:defRPr>
            </a:pPr>
            <a:r>
              <a:rPr sz="750" b="0">
                <a:solidFill>
                  <a:srgbClr val="52606D"/>
                </a:solidFill>
              </a:rPr>
              <a:t>Employee 360 Data Quality | Anthony Grant Apollis</a:t>
            </a:r>
          </a:p>
        </p:txBody>
      </p:sp>
      <p:sp>
        <p:nvSpPr>
          <p:cNvPr id="5" name="">
            <a:extLst xmlns:a="http://schemas.openxmlformats.org/drawingml/2006/main">
              <a:ext uri="{FF2B5EF4-FFF2-40B4-BE49-F238E27FC236}">
                <a16:creationId xmlns:a16="http://schemas.microsoft.com/office/drawing/2014/main" id="{B50C15F8-9E5A-46B4-B07D-23DB782F0566}"/>
              </a:ext>
            </a:extLst>
          </p:cNvPr>
          <p:cNvSpPr>
            <a:spLocks xmlns:a="http://schemas.openxmlformats.org/drawingml/2006/main" noGrp="1"/>
          </p:cNvSpPr>
          <p:nvPr/>
        </p:nvSpPr>
        <p:spPr>
          <a:xfrm xmlns:a="http://schemas.openxmlformats.org/drawingml/2006/main">
            <a:off x="10858500" y="6496050"/>
            <a:ext cx="723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0">
                <a:solidFill>
                  <a:srgbClr val="52606D"/>
                </a:solidFill>
              </a:defRPr>
            </a:defPPr>
          </a:lstStyle>
          <a:p xmlns:a="http://schemas.openxmlformats.org/drawingml/2006/main">
            <a:pPr>
              <a:defRPr sz="750" b="0">
                <a:solidFill>
                  <a:srgbClr val="52606D"/>
                </a:solidFill>
              </a:defRPr>
            </a:pPr>
            <a:r>
              <a:rPr sz="750" b="0">
                <a:solidFill>
                  <a:srgbClr val="52606D"/>
                </a:solidFill>
              </a:rPr>
              <a:t>7 / 8</a:t>
            </a:r>
          </a:p>
        </p:txBody>
      </p:sp>
      <p:pic>
        <p:nvPicPr>
          <p:cNvPr id="6" name="">
            <a:extLst xmlns:a="http://schemas.openxmlformats.org/drawingml/2006/main">
              <a:ext uri="{FF2B5EF4-FFF2-40B4-BE49-F238E27FC236}">
                <a16:creationId xmlns:a16="http://schemas.microsoft.com/office/drawing/2014/main" id="{487F1E30-9F11-42CA-9033-DE3559F65CAE}"/>
              </a:ext>
            </a:extLst>
          </p:cNvPr>
          <p:cNvPicPr>
            <a:picLocks xmlns:a="http://schemas.openxmlformats.org/drawingml/2006/main" noChangeAspect="1"/>
          </p:cNvPicPr>
          <p:nvPr/>
        </p:nvPicPr>
        <p:blipFill>
          <a:blip xmlns:r="http://schemas.openxmlformats.org/officeDocument/2006/relationships" xmlns:a="http://schemas.openxmlformats.org/drawingml/2006/main" r:embed="R6b08ad4aaf084888"/>
          <a:stretch xmlns:a="http://schemas.openxmlformats.org/drawingml/2006/main"/>
        </p:blipFill>
        <p:spPr>
          <a:xfrm xmlns:a="http://schemas.openxmlformats.org/drawingml/2006/main">
            <a:off x="609600" y="1993123"/>
            <a:ext cx="5857875" cy="283365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94D1E3F-391B-4EBD-BC7D-BCC9F8EE75B4}"/>
              </a:ext>
            </a:extLst>
          </p:cNvPr>
          <p:cNvSpPr>
            <a:spLocks xmlns:a="http://schemas.openxmlformats.org/drawingml/2006/main" noGrp="1"/>
          </p:cNvSpPr>
          <p:nvPr/>
        </p:nvSpPr>
        <p:spPr>
          <a:xfrm xmlns:a="http://schemas.openxmlformats.org/drawingml/2006/main">
            <a:off x="7000875" y="1752600"/>
            <a:ext cx="3476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102A43"/>
                </a:solidFill>
              </a:defRPr>
            </a:defPPr>
          </a:lstStyle>
          <a:p xmlns:a="http://schemas.openxmlformats.org/drawingml/2006/main">
            <a:pPr>
              <a:defRPr sz="1650" b="1">
                <a:solidFill>
                  <a:srgbClr val="102A43"/>
                </a:solidFill>
              </a:defRPr>
            </a:pPr>
            <a:r>
              <a:rPr sz="1650" b="1">
                <a:solidFill>
                  <a:srgbClr val="102A43"/>
                </a:solidFill>
              </a:rPr>
              <a:t>Implementation roles</a:t>
            </a:r>
          </a:p>
        </p:txBody>
      </p:sp>
      <p:sp>
        <p:nvSpPr>
          <p:cNvPr id="8" name="">
            <a:extLst xmlns:a="http://schemas.openxmlformats.org/drawingml/2006/main">
              <a:ext uri="{FF2B5EF4-FFF2-40B4-BE49-F238E27FC236}">
                <a16:creationId xmlns:a16="http://schemas.microsoft.com/office/drawing/2014/main" id="{D6606650-F6CD-470C-B6E8-DB2B1A6D5BC7}"/>
              </a:ext>
            </a:extLst>
          </p:cNvPr>
          <p:cNvSpPr>
            <a:spLocks xmlns:a="http://schemas.openxmlformats.org/drawingml/2006/main" noGrp="1"/>
          </p:cNvSpPr>
          <p:nvPr/>
        </p:nvSpPr>
        <p:spPr>
          <a:xfrm xmlns:a="http://schemas.openxmlformats.org/drawingml/2006/main">
            <a:off x="7000875" y="2314575"/>
            <a:ext cx="85725" cy="85725"/>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9" name="">
            <a:extLst xmlns:a="http://schemas.openxmlformats.org/drawingml/2006/main">
              <a:ext uri="{FF2B5EF4-FFF2-40B4-BE49-F238E27FC236}">
                <a16:creationId xmlns:a16="http://schemas.microsoft.com/office/drawing/2014/main" id="{E408D3AA-8AA2-4A77-9E8A-33AF0734EB06}"/>
              </a:ext>
            </a:extLst>
          </p:cNvPr>
          <p:cNvSpPr>
            <a:spLocks xmlns:a="http://schemas.openxmlformats.org/drawingml/2006/main" noGrp="1"/>
          </p:cNvSpPr>
          <p:nvPr/>
        </p:nvSpPr>
        <p:spPr>
          <a:xfrm xmlns:a="http://schemas.openxmlformats.org/drawingml/2006/main">
            <a:off x="7210425" y="2219325"/>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243B53"/>
                </a:solidFill>
              </a:defRPr>
            </a:defPPr>
          </a:lstStyle>
          <a:p xmlns:a="http://schemas.openxmlformats.org/drawingml/2006/main">
            <a:pPr>
              <a:defRPr sz="1275" b="0">
                <a:solidFill>
                  <a:srgbClr val="243B53"/>
                </a:solidFill>
              </a:defRPr>
            </a:pPr>
            <a:r>
              <a:rPr sz="1275" b="0">
                <a:solidFill>
                  <a:srgbClr val="243B53"/>
                </a:solidFill>
              </a:rPr>
              <a:t>PySpark ingests data, applies controls and writes Delta evidence</a:t>
            </a:r>
          </a:p>
        </p:txBody>
      </p:sp>
      <p:sp>
        <p:nvSpPr>
          <p:cNvPr id="10" name="">
            <a:extLst xmlns:a="http://schemas.openxmlformats.org/drawingml/2006/main">
              <a:ext uri="{FF2B5EF4-FFF2-40B4-BE49-F238E27FC236}">
                <a16:creationId xmlns:a16="http://schemas.microsoft.com/office/drawing/2014/main" id="{5688450B-1977-4B01-BA98-B3F577E4471D}"/>
              </a:ext>
            </a:extLst>
          </p:cNvPr>
          <p:cNvSpPr>
            <a:spLocks xmlns:a="http://schemas.openxmlformats.org/drawingml/2006/main" noGrp="1"/>
          </p:cNvSpPr>
          <p:nvPr/>
        </p:nvSpPr>
        <p:spPr>
          <a:xfrm xmlns:a="http://schemas.openxmlformats.org/drawingml/2006/main">
            <a:off x="7000875" y="2905125"/>
            <a:ext cx="85725" cy="85725"/>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11" name="">
            <a:extLst xmlns:a="http://schemas.openxmlformats.org/drawingml/2006/main">
              <a:ext uri="{FF2B5EF4-FFF2-40B4-BE49-F238E27FC236}">
                <a16:creationId xmlns:a16="http://schemas.microsoft.com/office/drawing/2014/main" id="{25DC0B6B-9E88-426D-9940-5805387621D5}"/>
              </a:ext>
            </a:extLst>
          </p:cNvPr>
          <p:cNvSpPr>
            <a:spLocks xmlns:a="http://schemas.openxmlformats.org/drawingml/2006/main" noGrp="1"/>
          </p:cNvSpPr>
          <p:nvPr/>
        </p:nvSpPr>
        <p:spPr>
          <a:xfrm xmlns:a="http://schemas.openxmlformats.org/drawingml/2006/main">
            <a:off x="7210425" y="2809875"/>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243B53"/>
                </a:solidFill>
              </a:defRPr>
            </a:defPPr>
          </a:lstStyle>
          <a:p xmlns:a="http://schemas.openxmlformats.org/drawingml/2006/main">
            <a:pPr>
              <a:defRPr sz="1275" b="0">
                <a:solidFill>
                  <a:srgbClr val="243B53"/>
                </a:solidFill>
              </a:defRPr>
            </a:pPr>
            <a:r>
              <a:rPr sz="1275" b="0">
                <a:solidFill>
                  <a:srgbClr val="243B53"/>
                </a:solidFill>
              </a:rPr>
              <a:t>dbt builds documented SQL staging and reconciliation models</a:t>
            </a:r>
          </a:p>
        </p:txBody>
      </p:sp>
      <p:sp>
        <p:nvSpPr>
          <p:cNvPr id="12" name="">
            <a:extLst xmlns:a="http://schemas.openxmlformats.org/drawingml/2006/main">
              <a:ext uri="{FF2B5EF4-FFF2-40B4-BE49-F238E27FC236}">
                <a16:creationId xmlns:a16="http://schemas.microsoft.com/office/drawing/2014/main" id="{1F62E3B2-F5A6-43FB-A77A-6A95A4E4DAD8}"/>
              </a:ext>
            </a:extLst>
          </p:cNvPr>
          <p:cNvSpPr>
            <a:spLocks xmlns:a="http://schemas.openxmlformats.org/drawingml/2006/main" noGrp="1"/>
          </p:cNvSpPr>
          <p:nvPr/>
        </p:nvSpPr>
        <p:spPr>
          <a:xfrm xmlns:a="http://schemas.openxmlformats.org/drawingml/2006/main">
            <a:off x="7000875" y="3495675"/>
            <a:ext cx="85725" cy="85725"/>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13" name="">
            <a:extLst xmlns:a="http://schemas.openxmlformats.org/drawingml/2006/main">
              <a:ext uri="{FF2B5EF4-FFF2-40B4-BE49-F238E27FC236}">
                <a16:creationId xmlns:a16="http://schemas.microsoft.com/office/drawing/2014/main" id="{88911C0E-01BF-4A18-94D4-B757E1A70BB6}"/>
              </a:ext>
            </a:extLst>
          </p:cNvPr>
          <p:cNvSpPr>
            <a:spLocks xmlns:a="http://schemas.openxmlformats.org/drawingml/2006/main" noGrp="1"/>
          </p:cNvSpPr>
          <p:nvPr/>
        </p:nvSpPr>
        <p:spPr>
          <a:xfrm xmlns:a="http://schemas.openxmlformats.org/drawingml/2006/main">
            <a:off x="7210425" y="3400425"/>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243B53"/>
                </a:solidFill>
              </a:defRPr>
            </a:defPPr>
          </a:lstStyle>
          <a:p xmlns:a="http://schemas.openxmlformats.org/drawingml/2006/main">
            <a:pPr>
              <a:defRPr sz="1275" b="0">
                <a:solidFill>
                  <a:srgbClr val="243B53"/>
                </a:solidFill>
              </a:defRPr>
            </a:pPr>
            <a:r>
              <a:rPr sz="1275" b="0">
                <a:solidFill>
                  <a:srgbClr val="243B53"/>
                </a:solidFill>
              </a:rPr>
              <a:t>Azure DevOps runs regression checks before deployment</a:t>
            </a:r>
          </a:p>
        </p:txBody>
      </p:sp>
      <p:sp>
        <p:nvSpPr>
          <p:cNvPr id="14" name="">
            <a:extLst xmlns:a="http://schemas.openxmlformats.org/drawingml/2006/main">
              <a:ext uri="{FF2B5EF4-FFF2-40B4-BE49-F238E27FC236}">
                <a16:creationId xmlns:a16="http://schemas.microsoft.com/office/drawing/2014/main" id="{ED019B89-EBFE-4E7B-B15B-377D4D458EE9}"/>
              </a:ext>
            </a:extLst>
          </p:cNvPr>
          <p:cNvSpPr>
            <a:spLocks xmlns:a="http://schemas.openxmlformats.org/drawingml/2006/main" noGrp="1"/>
          </p:cNvSpPr>
          <p:nvPr/>
        </p:nvSpPr>
        <p:spPr>
          <a:xfrm xmlns:a="http://schemas.openxmlformats.org/drawingml/2006/main">
            <a:off x="7000875" y="4086225"/>
            <a:ext cx="85725" cy="85725"/>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15" name="">
            <a:extLst xmlns:a="http://schemas.openxmlformats.org/drawingml/2006/main">
              <a:ext uri="{FF2B5EF4-FFF2-40B4-BE49-F238E27FC236}">
                <a16:creationId xmlns:a16="http://schemas.microsoft.com/office/drawing/2014/main" id="{8D4FEBF4-A1F3-4038-A9BE-871D79EB3017}"/>
              </a:ext>
            </a:extLst>
          </p:cNvPr>
          <p:cNvSpPr>
            <a:spLocks xmlns:a="http://schemas.openxmlformats.org/drawingml/2006/main" noGrp="1"/>
          </p:cNvSpPr>
          <p:nvPr/>
        </p:nvSpPr>
        <p:spPr>
          <a:xfrm xmlns:a="http://schemas.openxmlformats.org/drawingml/2006/main">
            <a:off x="7210425" y="3990975"/>
            <a:ext cx="3790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243B53"/>
                </a:solidFill>
              </a:defRPr>
            </a:defPPr>
          </a:lstStyle>
          <a:p xmlns:a="http://schemas.openxmlformats.org/drawingml/2006/main">
            <a:pPr>
              <a:defRPr sz="1275" b="0">
                <a:solidFill>
                  <a:srgbClr val="243B53"/>
                </a:solidFill>
              </a:defRPr>
            </a:pPr>
            <a:r>
              <a:rPr sz="1275" b="0">
                <a:solidFill>
                  <a:srgbClr val="243B53"/>
                </a:solidFill>
              </a:rPr>
              <a:t>Run IDs, hashes, severity and ownership support auditability</a:t>
            </a:r>
          </a:p>
        </p:txBody>
      </p:sp>
      <p:sp>
        <p:nvSpPr>
          <p:cNvPr id="16" name="">
            <a:extLst xmlns:a="http://schemas.openxmlformats.org/drawingml/2006/main">
              <a:ext uri="{FF2B5EF4-FFF2-40B4-BE49-F238E27FC236}">
                <a16:creationId xmlns:a16="http://schemas.microsoft.com/office/drawing/2014/main" id="{71199733-8352-487D-B403-233F0281AF2C}"/>
              </a:ext>
            </a:extLst>
          </p:cNvPr>
          <p:cNvSpPr>
            <a:spLocks xmlns:a="http://schemas.openxmlformats.org/drawingml/2006/main" noGrp="1"/>
          </p:cNvSpPr>
          <p:nvPr/>
        </p:nvSpPr>
        <p:spPr>
          <a:xfrm xmlns:a="http://schemas.openxmlformats.org/drawingml/2006/main">
            <a:off x="609600" y="55054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102A43"/>
                </a:solidFill>
              </a:defRPr>
            </a:defPPr>
          </a:lstStyle>
          <a:p xmlns:a="http://schemas.openxmlformats.org/drawingml/2006/main">
            <a:pPr>
              <a:defRPr sz="1425" b="1">
                <a:solidFill>
                  <a:srgbClr val="102A43"/>
                </a:solidFill>
              </a:defRPr>
            </a:pPr>
            <a:r>
              <a:rPr sz="1425" b="1">
                <a:solidFill>
                  <a:srgbClr val="102A43"/>
                </a:solidFill>
              </a:rPr>
              <a:t>dbt strengthens the SQL layer. It keeps the payroll-conflict model visible and prevents arbitrary first-value logic.</a:t>
            </a:r>
          </a:p>
        </p:txBody>
      </p:sp>
    </p:spTree>
    <p:extLst>
      <p:ext uri="{BB962C8B-B14F-4D97-AF65-F5344CB8AC3E}">
        <p14:creationId xmlns:p14="http://schemas.microsoft.com/office/powerpoint/2010/main" val="394925083"/>
      </p:ext>
    </p:extLst>
  </p:cSld>
</p:sld>
</file>

<file path=ppt/slides/slide8.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780CF0A-D7ED-455A-9F94-473A78BCD315}"/>
              </a:ext>
            </a:extLst>
          </p:cNvPr>
          <p:cNvSpPr>
            <a:spLocks xmlns:a="http://schemas.openxmlformats.org/drawingml/2006/main" noGrp="1"/>
          </p:cNvSpPr>
          <p:nvPr/>
        </p:nvSpPr>
        <p:spPr>
          <a:xfrm xmlns:a="http://schemas.openxmlformats.org/drawingml/2006/main">
            <a:off x="609600" y="5905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550" b="1">
                <a:solidFill>
                  <a:srgbClr val="FFFFFF"/>
                </a:solidFill>
              </a:defRPr>
            </a:defPPr>
          </a:lstStyle>
          <a:p xmlns:a="http://schemas.openxmlformats.org/drawingml/2006/main">
            <a:pPr>
              <a:defRPr sz="2550" b="1">
                <a:solidFill>
                  <a:srgbClr val="FFFFFF"/>
                </a:solidFill>
              </a:defRPr>
            </a:pPr>
            <a:r>
              <a:rPr sz="2550" b="1">
                <a:solidFill>
                  <a:srgbClr val="FFFFFF"/>
                </a:solidFill>
              </a:rPr>
              <a:t>Independent judgement and next steps</a:t>
            </a:r>
          </a:p>
        </p:txBody>
      </p:sp>
      <p:sp>
        <p:nvSpPr>
          <p:cNvPr id="2" name="">
            <a:extLst xmlns:a="http://schemas.openxmlformats.org/drawingml/2006/main">
              <a:ext uri="{FF2B5EF4-FFF2-40B4-BE49-F238E27FC236}">
                <a16:creationId xmlns:a16="http://schemas.microsoft.com/office/drawing/2014/main" id="{D41E7CDC-D591-493D-A1B9-64776F2B4760}"/>
              </a:ext>
            </a:extLst>
          </p:cNvPr>
          <p:cNvSpPr>
            <a:spLocks xmlns:a="http://schemas.openxmlformats.org/drawingml/2006/main" noGrp="1"/>
          </p:cNvSpPr>
          <p:nvPr/>
        </p:nvSpPr>
        <p:spPr>
          <a:xfrm xmlns:a="http://schemas.openxmlformats.org/drawingml/2006/main">
            <a:off x="609600" y="1162050"/>
            <a:ext cx="10934700" cy="38100"/>
          </a:xfrm>
          <a:prstGeom xmlns:a="http://schemas.openxmlformats.org/drawingml/2006/main" prst="rect">
            <a:avLst/>
          </a:prstGeom>
          <a:solidFill xmlns:a="http://schemas.openxmlformats.org/drawingml/2006/main">
            <a:srgbClr val="127B76"/>
          </a:solidFill>
          <a:ln xmlns:a="http://schemas.openxmlformats.org/drawingml/2006/main" w="9525">
            <a:solidFill>
              <a:srgbClr val="127B76"/>
            </a:solidFill>
            <a:prstDash val="solid"/>
          </a:ln>
        </p:spPr>
      </p:sp>
      <p:sp>
        <p:nvSpPr>
          <p:cNvPr id="3" name="">
            <a:extLst xmlns:a="http://schemas.openxmlformats.org/drawingml/2006/main">
              <a:ext uri="{FF2B5EF4-FFF2-40B4-BE49-F238E27FC236}">
                <a16:creationId xmlns:a16="http://schemas.microsoft.com/office/drawing/2014/main" id="{D1A66B16-942E-4AF8-865E-31EEE94C4DF7}"/>
              </a:ext>
            </a:extLst>
          </p:cNvPr>
          <p:cNvSpPr>
            <a:spLocks xmlns:a="http://schemas.openxmlformats.org/drawingml/2006/main" noGrp="1"/>
          </p:cNvSpPr>
          <p:nvPr/>
        </p:nvSpPr>
        <p:spPr>
          <a:xfrm xmlns:a="http://schemas.openxmlformats.org/drawingml/2006/main">
            <a:off x="609600" y="17526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BFD8D2"/>
                </a:solidFill>
              </a:defRPr>
            </a:defPPr>
          </a:lstStyle>
          <a:p xmlns:a="http://schemas.openxmlformats.org/drawingml/2006/main">
            <a:pPr>
              <a:defRPr sz="1425" b="1">
                <a:solidFill>
                  <a:srgbClr val="BFD8D2"/>
                </a:solidFill>
              </a:defRPr>
            </a:pPr>
            <a:r>
              <a:rPr sz="1425" b="1">
                <a:solidFill>
                  <a:srgbClr val="BFD8D2"/>
                </a:solidFill>
              </a:rPr>
              <a:t>AI use</a:t>
            </a:r>
          </a:p>
        </p:txBody>
      </p:sp>
      <p:sp>
        <p:nvSpPr>
          <p:cNvPr id="4" name="">
            <a:extLst xmlns:a="http://schemas.openxmlformats.org/drawingml/2006/main">
              <a:ext uri="{FF2B5EF4-FFF2-40B4-BE49-F238E27FC236}">
                <a16:creationId xmlns:a16="http://schemas.microsoft.com/office/drawing/2014/main" id="{1D457AD7-6905-41DE-B1DA-C321E3907E7B}"/>
              </a:ext>
            </a:extLst>
          </p:cNvPr>
          <p:cNvSpPr>
            <a:spLocks xmlns:a="http://schemas.openxmlformats.org/drawingml/2006/main" noGrp="1"/>
          </p:cNvSpPr>
          <p:nvPr/>
        </p:nvSpPr>
        <p:spPr>
          <a:xfrm xmlns:a="http://schemas.openxmlformats.org/drawingml/2006/main">
            <a:off x="609600" y="2095500"/>
            <a:ext cx="10096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FFFFFF"/>
                </a:solidFill>
              </a:defRPr>
            </a:defPPr>
          </a:lstStyle>
          <a:p xmlns:a="http://schemas.openxmlformats.org/drawingml/2006/main">
            <a:pPr>
              <a:defRPr sz="1650" b="0">
                <a:solidFill>
                  <a:srgbClr val="FFFFFF"/>
                </a:solidFill>
              </a:defRPr>
            </a:pPr>
            <a:r>
              <a:rPr sz="1650" b="0">
                <a:solidFill>
                  <a:srgbClr val="FFFFFF"/>
                </a:solidFill>
              </a:rPr>
              <a:t>AI accelerated drafting and review. I challenged its suggestion to use groupBy().first() because that method could select an arbitrary conflicting payroll value and hide E1015.</a:t>
            </a:r>
          </a:p>
        </p:txBody>
      </p:sp>
      <p:sp>
        <p:nvSpPr>
          <p:cNvPr id="5" name="">
            <a:extLst xmlns:a="http://schemas.openxmlformats.org/drawingml/2006/main">
              <a:ext uri="{FF2B5EF4-FFF2-40B4-BE49-F238E27FC236}">
                <a16:creationId xmlns:a16="http://schemas.microsoft.com/office/drawing/2014/main" id="{855EC737-8D46-4AB6-93EE-DA1C217BD9A3}"/>
              </a:ext>
            </a:extLst>
          </p:cNvPr>
          <p:cNvSpPr>
            <a:spLocks xmlns:a="http://schemas.openxmlformats.org/drawingml/2006/main" noGrp="1"/>
          </p:cNvSpPr>
          <p:nvPr/>
        </p:nvSpPr>
        <p:spPr>
          <a:xfrm xmlns:a="http://schemas.openxmlformats.org/drawingml/2006/main">
            <a:off x="609600" y="33337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BFD8D2"/>
                </a:solidFill>
              </a:defRPr>
            </a:defPPr>
          </a:lstStyle>
          <a:p xmlns:a="http://schemas.openxmlformats.org/drawingml/2006/main">
            <a:pPr>
              <a:defRPr sz="1425" b="1">
                <a:solidFill>
                  <a:srgbClr val="BFD8D2"/>
                </a:solidFill>
              </a:defRPr>
            </a:pPr>
            <a:r>
              <a:rPr sz="1425" b="1">
                <a:solidFill>
                  <a:srgbClr val="BFD8D2"/>
                </a:solidFill>
              </a:rPr>
              <a:t>Correction</a:t>
            </a:r>
          </a:p>
        </p:txBody>
      </p:sp>
      <p:sp>
        <p:nvSpPr>
          <p:cNvPr id="6" name="">
            <a:extLst xmlns:a="http://schemas.openxmlformats.org/drawingml/2006/main">
              <a:ext uri="{FF2B5EF4-FFF2-40B4-BE49-F238E27FC236}">
                <a16:creationId xmlns:a16="http://schemas.microsoft.com/office/drawing/2014/main" id="{DBC511D9-2288-48D7-997A-6D7EA0423C52}"/>
              </a:ext>
            </a:extLst>
          </p:cNvPr>
          <p:cNvSpPr>
            <a:spLocks xmlns:a="http://schemas.openxmlformats.org/drawingml/2006/main" noGrp="1"/>
          </p:cNvSpPr>
          <p:nvPr/>
        </p:nvSpPr>
        <p:spPr>
          <a:xfrm xmlns:a="http://schemas.openxmlformats.org/drawingml/2006/main">
            <a:off x="609600" y="3676650"/>
            <a:ext cx="1009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0">
                <a:solidFill>
                  <a:srgbClr val="FFFFFF"/>
                </a:solidFill>
              </a:defRPr>
            </a:defPPr>
          </a:lstStyle>
          <a:p xmlns:a="http://schemas.openxmlformats.org/drawingml/2006/main">
            <a:pPr>
              <a:defRPr sz="1650" b="0">
                <a:solidFill>
                  <a:srgbClr val="FFFFFF"/>
                </a:solidFill>
              </a:defRPr>
            </a:pPr>
            <a:r>
              <a:rPr sz="1650" b="0">
                <a:solidFill>
                  <a:srgbClr val="FFFFFF"/>
                </a:solidFill>
              </a:rPr>
              <a:t>The final approach treats conflicting payroll values as Cannot verify. The pipeline preserves the evidence and routes it to the data owner.</a:t>
            </a:r>
          </a:p>
        </p:txBody>
      </p:sp>
      <p:sp>
        <p:nvSpPr>
          <p:cNvPr id="7" name="">
            <a:extLst xmlns:a="http://schemas.openxmlformats.org/drawingml/2006/main">
              <a:ext uri="{FF2B5EF4-FFF2-40B4-BE49-F238E27FC236}">
                <a16:creationId xmlns:a16="http://schemas.microsoft.com/office/drawing/2014/main" id="{E7FF5362-D623-45A8-9A6D-360EB4D49395}"/>
              </a:ext>
            </a:extLst>
          </p:cNvPr>
          <p:cNvSpPr>
            <a:spLocks xmlns:a="http://schemas.openxmlformats.org/drawingml/2006/main" noGrp="1"/>
          </p:cNvSpPr>
          <p:nvPr/>
        </p:nvSpPr>
        <p:spPr>
          <a:xfrm xmlns:a="http://schemas.openxmlformats.org/drawingml/2006/main">
            <a:off x="609600" y="49053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BFD8D2"/>
                </a:solidFill>
              </a:defRPr>
            </a:defPPr>
          </a:lstStyle>
          <a:p xmlns:a="http://schemas.openxmlformats.org/drawingml/2006/main">
            <a:pPr>
              <a:defRPr sz="1425" b="1">
                <a:solidFill>
                  <a:srgbClr val="BFD8D2"/>
                </a:solidFill>
              </a:defRPr>
            </a:pPr>
            <a:r>
              <a:rPr sz="1425" b="1">
                <a:solidFill>
                  <a:srgbClr val="BFD8D2"/>
                </a:solidFill>
              </a:rPr>
              <a:t>Close</a:t>
            </a:r>
          </a:p>
        </p:txBody>
      </p:sp>
      <p:sp>
        <p:nvSpPr>
          <p:cNvPr id="8" name="">
            <a:extLst xmlns:a="http://schemas.openxmlformats.org/drawingml/2006/main">
              <a:ext uri="{FF2B5EF4-FFF2-40B4-BE49-F238E27FC236}">
                <a16:creationId xmlns:a16="http://schemas.microsoft.com/office/drawing/2014/main" id="{A9103FF7-EB7B-49DB-8BCF-A3FF723C0BDE}"/>
              </a:ext>
            </a:extLst>
          </p:cNvPr>
          <p:cNvSpPr>
            <a:spLocks xmlns:a="http://schemas.openxmlformats.org/drawingml/2006/main" noGrp="1"/>
          </p:cNvSpPr>
          <p:nvPr/>
        </p:nvSpPr>
        <p:spPr>
          <a:xfrm xmlns:a="http://schemas.openxmlformats.org/drawingml/2006/main">
            <a:off x="609600" y="5238750"/>
            <a:ext cx="1019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FFFFFF"/>
                </a:solidFill>
              </a:defRPr>
            </a:defPPr>
          </a:lstStyle>
          <a:p xmlns:a="http://schemas.openxmlformats.org/drawingml/2006/main">
            <a:pPr>
              <a:defRPr sz="1725" b="1">
                <a:solidFill>
                  <a:srgbClr val="FFFFFF"/>
                </a:solidFill>
              </a:defRPr>
            </a:pPr>
            <a:r>
              <a:rPr sz="1725" b="1">
                <a:solidFill>
                  <a:srgbClr val="FFFFFF"/>
                </a:solidFill>
              </a:rPr>
              <a:t>The solution blocks unsafe data, identifies where problems begin, supports remediation and shows how a governed release can proceed once the defects are corrected.</a:t>
            </a:r>
          </a:p>
        </p:txBody>
      </p:sp>
      <p:sp>
        <p:nvSpPr>
          <p:cNvPr id="9" name="">
            <a:extLst xmlns:a="http://schemas.openxmlformats.org/drawingml/2006/main">
              <a:ext uri="{FF2B5EF4-FFF2-40B4-BE49-F238E27FC236}">
                <a16:creationId xmlns:a16="http://schemas.microsoft.com/office/drawing/2014/main" id="{E635BD3E-AB7F-4939-8ED4-85D30848A0C7}"/>
              </a:ext>
            </a:extLst>
          </p:cNvPr>
          <p:cNvSpPr>
            <a:spLocks xmlns:a="http://schemas.openxmlformats.org/drawingml/2006/main" noGrp="1"/>
          </p:cNvSpPr>
          <p:nvPr/>
        </p:nvSpPr>
        <p:spPr>
          <a:xfrm xmlns:a="http://schemas.openxmlformats.org/drawingml/2006/main">
            <a:off x="609600" y="649605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0">
                <a:solidFill>
                  <a:srgbClr val="52606D"/>
                </a:solidFill>
              </a:defRPr>
            </a:defPPr>
          </a:lstStyle>
          <a:p xmlns:a="http://schemas.openxmlformats.org/drawingml/2006/main">
            <a:pPr>
              <a:defRPr sz="750" b="0">
                <a:solidFill>
                  <a:srgbClr val="52606D"/>
                </a:solidFill>
              </a:defRPr>
            </a:pPr>
            <a:r>
              <a:rPr sz="750" b="0">
                <a:solidFill>
                  <a:srgbClr val="52606D"/>
                </a:solidFill>
              </a:rPr>
              <a:t>Employee 360 Data Quality | Anthony Grant Apollis</a:t>
            </a:r>
          </a:p>
        </p:txBody>
      </p:sp>
      <p:sp>
        <p:nvSpPr>
          <p:cNvPr id="10" name="">
            <a:extLst xmlns:a="http://schemas.openxmlformats.org/drawingml/2006/main">
              <a:ext uri="{FF2B5EF4-FFF2-40B4-BE49-F238E27FC236}">
                <a16:creationId xmlns:a16="http://schemas.microsoft.com/office/drawing/2014/main" id="{B989F53B-260D-4A36-9371-1AEC448B9CA1}"/>
              </a:ext>
            </a:extLst>
          </p:cNvPr>
          <p:cNvSpPr>
            <a:spLocks xmlns:a="http://schemas.openxmlformats.org/drawingml/2006/main" noGrp="1"/>
          </p:cNvSpPr>
          <p:nvPr/>
        </p:nvSpPr>
        <p:spPr>
          <a:xfrm xmlns:a="http://schemas.openxmlformats.org/drawingml/2006/main">
            <a:off x="10858500" y="6496050"/>
            <a:ext cx="723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750" b="0">
                <a:solidFill>
                  <a:srgbClr val="52606D"/>
                </a:solidFill>
              </a:defRPr>
            </a:defPPr>
          </a:lstStyle>
          <a:p xmlns:a="http://schemas.openxmlformats.org/drawingml/2006/main">
            <a:pPr>
              <a:defRPr sz="750" b="0">
                <a:solidFill>
                  <a:srgbClr val="52606D"/>
                </a:solidFill>
              </a:defRPr>
            </a:pPr>
            <a:r>
              <a:rPr sz="750" b="0">
                <a:solidFill>
                  <a:srgbClr val="52606D"/>
                </a:solidFill>
              </a:rPr>
              <a:t>8 / 8</a:t>
            </a:r>
          </a:p>
        </p:txBody>
      </p:sp>
    </p:spTree>
    <p:extLst>
      <p:ext uri="{BB962C8B-B14F-4D97-AF65-F5344CB8AC3E}">
        <p14:creationId xmlns:p14="http://schemas.microsoft.com/office/powerpoint/2010/main" val="8437939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2026-10-11T16:04:15.4300000Z</dcterms:created>
  <dcterms:modified xsi:type="dcterms:W3CDTF">2026-10-11T16:04:15.4300000Z</dcterms:modified>
</coreProperties>
</file>